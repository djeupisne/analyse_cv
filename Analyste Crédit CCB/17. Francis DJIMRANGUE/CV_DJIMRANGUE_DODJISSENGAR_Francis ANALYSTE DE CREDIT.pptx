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2"/>
    <p:sldId id="258" r:id="rId3"/>
  </p:sldIdLst>
  <p:sldSz cx="7556500" cy="10699750"/>
  <p:notesSz cx="6858000" cy="9945688"/>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0" d="100"/>
          <a:sy n="120" d="100"/>
        </p:scale>
        <p:origin x="-2064" y="2040"/>
      </p:cViewPr>
      <p:guideLst>
        <p:guide orient="horz" pos="2880"/>
        <p:guide pos="20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35" name="Rectangle 2"/>
          <p:cNvSpPr>
            <a:spLocks noGrp="1" noChangeArrowheads="1"/>
          </p:cNvSpPr>
          <p:nvPr>
            <p:ph type="hdr" sz="quarter"/>
          </p:nvPr>
        </p:nvSpPr>
        <p:spPr bwMode="auto">
          <a:xfrm>
            <a:off x="2" y="1"/>
            <a:ext cx="2792186" cy="476626"/>
          </a:xfrm>
          <a:prstGeom prst="rect">
            <a:avLst/>
          </a:prstGeom>
          <a:noFill/>
          <a:ln w="9525">
            <a:noFill/>
            <a:miter lim="800000"/>
            <a:headEnd/>
            <a:tailEnd/>
          </a:ln>
          <a:effectLst/>
        </p:spPr>
        <p:txBody>
          <a:bodyPr vert="horz" wrap="square" lIns="84209" tIns="42104" rIns="84209" bIns="42104" numCol="1" anchor="t" anchorCtr="0" compatLnSpc="1">
            <a:prstTxWarp prst="textNoShape">
              <a:avLst/>
            </a:prstTxWarp>
          </a:bodyPr>
          <a:lstStyle>
            <a:lvl1pPr algn="l">
              <a:defRPr sz="1000"/>
            </a:lvl1pPr>
          </a:lstStyle>
          <a:p>
            <a:endParaRPr lang="en-US"/>
          </a:p>
        </p:txBody>
      </p:sp>
      <p:sp>
        <p:nvSpPr>
          <p:cNvPr id="1048636" name="Rectangle 3"/>
          <p:cNvSpPr>
            <a:spLocks noGrp="1" noChangeArrowheads="1"/>
          </p:cNvSpPr>
          <p:nvPr>
            <p:ph type="dt" idx="1"/>
          </p:nvPr>
        </p:nvSpPr>
        <p:spPr bwMode="auto">
          <a:xfrm>
            <a:off x="3649437" y="1"/>
            <a:ext cx="2792186" cy="476626"/>
          </a:xfrm>
          <a:prstGeom prst="rect">
            <a:avLst/>
          </a:prstGeom>
          <a:noFill/>
          <a:ln w="9525">
            <a:noFill/>
            <a:miter lim="800000"/>
            <a:headEnd/>
            <a:tailEnd/>
          </a:ln>
          <a:effectLst/>
        </p:spPr>
        <p:txBody>
          <a:bodyPr vert="horz" wrap="square" lIns="84209" tIns="42104" rIns="84209" bIns="42104" numCol="1" anchor="t" anchorCtr="0" compatLnSpc="1">
            <a:prstTxWarp prst="textNoShape">
              <a:avLst/>
            </a:prstTxWarp>
          </a:bodyPr>
          <a:lstStyle>
            <a:lvl1pPr algn="r">
              <a:defRPr sz="1000"/>
            </a:lvl1pPr>
          </a:lstStyle>
          <a:p>
            <a:endParaRPr lang="en-US"/>
          </a:p>
        </p:txBody>
      </p:sp>
      <p:sp>
        <p:nvSpPr>
          <p:cNvPr id="1048637" name="Rectangle 4"/>
          <p:cNvSpPr>
            <a:spLocks noGrp="1" noRot="1" noChangeAspect="1" noChangeArrowheads="1" noTextEdit="1"/>
          </p:cNvSpPr>
          <p:nvPr>
            <p:ph type="sldImg" idx="2"/>
          </p:nvPr>
        </p:nvSpPr>
        <p:spPr bwMode="auto">
          <a:xfrm>
            <a:off x="1960563" y="712788"/>
            <a:ext cx="2520950" cy="3568700"/>
          </a:xfrm>
          <a:prstGeom prst="rect">
            <a:avLst/>
          </a:prstGeom>
          <a:noFill/>
          <a:ln w="9525">
            <a:solidFill>
              <a:srgbClr val="000000"/>
            </a:solidFill>
            <a:miter lim="800000"/>
            <a:headEnd/>
            <a:tailEnd/>
          </a:ln>
          <a:effectLst/>
        </p:spPr>
      </p:sp>
      <p:sp>
        <p:nvSpPr>
          <p:cNvPr id="1048638" name="Rectangle 5"/>
          <p:cNvSpPr>
            <a:spLocks noGrp="1" noChangeArrowheads="1"/>
          </p:cNvSpPr>
          <p:nvPr>
            <p:ph type="body" sz="quarter" idx="3"/>
          </p:nvPr>
        </p:nvSpPr>
        <p:spPr bwMode="auto">
          <a:xfrm>
            <a:off x="644020" y="4519830"/>
            <a:ext cx="5155026" cy="4280777"/>
          </a:xfrm>
          <a:prstGeom prst="rect">
            <a:avLst/>
          </a:prstGeom>
          <a:noFill/>
          <a:ln w="9525">
            <a:noFill/>
            <a:miter lim="800000"/>
            <a:headEnd/>
            <a:tailEnd/>
          </a:ln>
          <a:effectLst/>
        </p:spPr>
        <p:txBody>
          <a:bodyPr vert="horz" wrap="square" lIns="84209" tIns="42104" rIns="84209" bIns="42104"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39" name="Rectangle 6"/>
          <p:cNvSpPr>
            <a:spLocks noGrp="1" noChangeArrowheads="1"/>
          </p:cNvSpPr>
          <p:nvPr>
            <p:ph type="ftr" sz="quarter" idx="4"/>
          </p:nvPr>
        </p:nvSpPr>
        <p:spPr bwMode="auto">
          <a:xfrm>
            <a:off x="2" y="9035231"/>
            <a:ext cx="2792186" cy="476625"/>
          </a:xfrm>
          <a:prstGeom prst="rect">
            <a:avLst/>
          </a:prstGeom>
          <a:noFill/>
          <a:ln w="9525">
            <a:noFill/>
            <a:miter lim="800000"/>
            <a:headEnd/>
            <a:tailEnd/>
          </a:ln>
          <a:effectLst/>
        </p:spPr>
        <p:txBody>
          <a:bodyPr vert="horz" wrap="square" lIns="84209" tIns="42104" rIns="84209" bIns="42104" numCol="1" anchor="b" anchorCtr="0" compatLnSpc="1">
            <a:prstTxWarp prst="textNoShape">
              <a:avLst/>
            </a:prstTxWarp>
          </a:bodyPr>
          <a:lstStyle>
            <a:lvl1pPr algn="l">
              <a:defRPr sz="1000"/>
            </a:lvl1pPr>
          </a:lstStyle>
          <a:p>
            <a:endParaRPr lang="en-US"/>
          </a:p>
        </p:txBody>
      </p:sp>
      <p:sp>
        <p:nvSpPr>
          <p:cNvPr id="1048640" name="Rectangle 7"/>
          <p:cNvSpPr>
            <a:spLocks noGrp="1" noChangeArrowheads="1"/>
          </p:cNvSpPr>
          <p:nvPr>
            <p:ph type="sldNum" sz="quarter" idx="5"/>
          </p:nvPr>
        </p:nvSpPr>
        <p:spPr bwMode="auto">
          <a:xfrm>
            <a:off x="3649437" y="9035231"/>
            <a:ext cx="2792186" cy="476625"/>
          </a:xfrm>
          <a:prstGeom prst="rect">
            <a:avLst/>
          </a:prstGeom>
          <a:noFill/>
          <a:ln w="9525">
            <a:noFill/>
            <a:miter lim="800000"/>
            <a:headEnd/>
            <a:tailEnd/>
          </a:ln>
          <a:effectLst/>
        </p:spPr>
        <p:txBody>
          <a:bodyPr vert="horz" wrap="square" lIns="84209" tIns="42104" rIns="84209" bIns="42104" numCol="1" anchor="b" anchorCtr="0" compatLnSpc="1">
            <a:prstTxWarp prst="textNoShape">
              <a:avLst/>
            </a:prstTxWarp>
          </a:bodyPr>
          <a:lstStyle>
            <a:lvl1pPr algn="r">
              <a:defRPr sz="1000"/>
            </a:lvl1pPr>
          </a:lstStyle>
          <a:p>
            <a:fld id="{A9A0EA98-5831-4853-B862-C702E6EB345C}" type="slidenum">
              <a:rPr lang="en-US"/>
              <a:t>‹N°›</a:t>
            </a:fld>
            <a:endParaRPr lang="en-US"/>
          </a:p>
        </p:txBody>
      </p:sp>
    </p:spTree>
    <p:extLst>
      <p:ext uri="{BB962C8B-B14F-4D97-AF65-F5344CB8AC3E}">
        <p14:creationId xmlns:p14="http://schemas.microsoft.com/office/powerpoint/2010/main" val="157322243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9A0EA98-5831-4853-B862-C702E6EB345C}" type="slidenum">
              <a:rPr lang="en-US" smtClean="0"/>
              <a:t>1</a:t>
            </a:fld>
            <a:endParaRPr lang="en-US"/>
          </a:p>
        </p:txBody>
      </p:sp>
    </p:spTree>
    <p:extLst>
      <p:ext uri="{BB962C8B-B14F-4D97-AF65-F5344CB8AC3E}">
        <p14:creationId xmlns:p14="http://schemas.microsoft.com/office/powerpoint/2010/main" val="464097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20" name="Holder 2"/>
          <p:cNvSpPr>
            <a:spLocks noGrp="1"/>
          </p:cNvSpPr>
          <p:nvPr>
            <p:ph type="ctrTitle"/>
          </p:nvPr>
        </p:nvSpPr>
        <p:spPr>
          <a:xfrm>
            <a:off x="567213" y="3316922"/>
            <a:ext cx="6428422" cy="2246947"/>
          </a:xfrm>
          <a:prstGeom prst="rect">
            <a:avLst/>
          </a:prstGeom>
        </p:spPr>
        <p:txBody>
          <a:bodyPr wrap="square" lIns="0" tIns="0" rIns="0" bIns="0">
            <a:spAutoFit/>
          </a:bodyPr>
          <a:lstStyle>
            <a:lvl1pPr>
              <a:defRPr sz="3000" b="0" i="0">
                <a:solidFill>
                  <a:srgbClr val="07113C"/>
                </a:solidFill>
                <a:latin typeface="Arial Black"/>
                <a:cs typeface="Arial Black"/>
              </a:defRPr>
            </a:lvl1pPr>
          </a:lstStyle>
          <a:p>
            <a:endParaRPr/>
          </a:p>
        </p:txBody>
      </p:sp>
      <p:sp>
        <p:nvSpPr>
          <p:cNvPr id="1048621" name="Holder 3"/>
          <p:cNvSpPr>
            <a:spLocks noGrp="1"/>
          </p:cNvSpPr>
          <p:nvPr>
            <p:ph type="subTitle" idx="4"/>
          </p:nvPr>
        </p:nvSpPr>
        <p:spPr>
          <a:xfrm>
            <a:off x="1134427" y="5991860"/>
            <a:ext cx="5293995" cy="2674937"/>
          </a:xfrm>
          <a:prstGeom prst="rect">
            <a:avLst/>
          </a:prstGeom>
        </p:spPr>
        <p:txBody>
          <a:bodyPr wrap="square" lIns="0" tIns="0" rIns="0" bIns="0">
            <a:spAutoFit/>
          </a:bodyPr>
          <a:lstStyle>
            <a:lvl1pPr>
              <a:defRPr sz="900" b="1" i="0">
                <a:solidFill>
                  <a:srgbClr val="07113C"/>
                </a:solidFill>
                <a:latin typeface="Century Gothic"/>
                <a:cs typeface="Century Gothic"/>
              </a:defRPr>
            </a:lvl1pPr>
          </a:lstStyle>
          <a:p>
            <a:endParaRPr/>
          </a:p>
        </p:txBody>
      </p:sp>
      <p:sp>
        <p:nvSpPr>
          <p:cNvPr id="1048622"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3"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624"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048582" name="bg object 16"/>
          <p:cNvSpPr/>
          <p:nvPr/>
        </p:nvSpPr>
        <p:spPr>
          <a:xfrm>
            <a:off x="339839" y="0"/>
            <a:ext cx="6883400" cy="130810"/>
          </a:xfrm>
          <a:custGeom>
            <a:avLst/>
            <a:gdLst/>
            <a:ahLst/>
            <a:cxnLst/>
            <a:rect l="l" t="t" r="r" b="b"/>
            <a:pathLst>
              <a:path w="6883400" h="130810">
                <a:moveTo>
                  <a:pt x="6883176" y="130294"/>
                </a:moveTo>
                <a:lnTo>
                  <a:pt x="0" y="130294"/>
                </a:lnTo>
                <a:lnTo>
                  <a:pt x="0" y="0"/>
                </a:lnTo>
                <a:lnTo>
                  <a:pt x="6883176" y="0"/>
                </a:lnTo>
                <a:lnTo>
                  <a:pt x="6883176" y="130294"/>
                </a:lnTo>
                <a:close/>
              </a:path>
            </a:pathLst>
          </a:custGeom>
          <a:solidFill>
            <a:srgbClr val="250DAB"/>
          </a:solidFill>
        </p:spPr>
        <p:txBody>
          <a:bodyPr wrap="square" lIns="0" tIns="0" rIns="0" bIns="0" rtlCol="0"/>
          <a:lstStyle/>
          <a:p>
            <a:endParaRPr/>
          </a:p>
        </p:txBody>
      </p:sp>
      <p:sp>
        <p:nvSpPr>
          <p:cNvPr id="1048583" name="bg object 17"/>
          <p:cNvSpPr/>
          <p:nvPr/>
        </p:nvSpPr>
        <p:spPr>
          <a:xfrm>
            <a:off x="339839" y="10565739"/>
            <a:ext cx="6883400" cy="131445"/>
          </a:xfrm>
          <a:custGeom>
            <a:avLst/>
            <a:gdLst/>
            <a:ahLst/>
            <a:cxnLst/>
            <a:rect l="l" t="t" r="r" b="b"/>
            <a:pathLst>
              <a:path w="6883400" h="131445">
                <a:moveTo>
                  <a:pt x="6883176" y="130835"/>
                </a:moveTo>
                <a:lnTo>
                  <a:pt x="0" y="130835"/>
                </a:lnTo>
                <a:lnTo>
                  <a:pt x="0" y="0"/>
                </a:lnTo>
                <a:lnTo>
                  <a:pt x="6883176" y="0"/>
                </a:lnTo>
                <a:lnTo>
                  <a:pt x="6883176" y="130835"/>
                </a:lnTo>
                <a:close/>
              </a:path>
            </a:pathLst>
          </a:custGeom>
          <a:solidFill>
            <a:srgbClr val="250DAB"/>
          </a:solidFill>
        </p:spPr>
        <p:txBody>
          <a:bodyPr wrap="square" lIns="0" tIns="0" rIns="0" bIns="0" rtlCol="0"/>
          <a:lstStyle/>
          <a:p>
            <a:endParaRPr/>
          </a:p>
        </p:txBody>
      </p:sp>
      <p:pic>
        <p:nvPicPr>
          <p:cNvPr id="2097152" name="bg object 18"/>
          <p:cNvPicPr>
            <a:picLocks/>
          </p:cNvPicPr>
          <p:nvPr/>
        </p:nvPicPr>
        <p:blipFill>
          <a:blip r:embed="rId2" cstate="print"/>
          <a:stretch>
            <a:fillRect/>
          </a:stretch>
        </p:blipFill>
        <p:spPr>
          <a:xfrm>
            <a:off x="339839" y="442600"/>
            <a:ext cx="1440542" cy="1800679"/>
          </a:xfrm>
          <a:prstGeom prst="rect">
            <a:avLst/>
          </a:prstGeom>
        </p:spPr>
      </p:pic>
      <p:sp>
        <p:nvSpPr>
          <p:cNvPr id="1048584" name="bg object 19"/>
          <p:cNvSpPr/>
          <p:nvPr/>
        </p:nvSpPr>
        <p:spPr>
          <a:xfrm>
            <a:off x="339839" y="2467277"/>
            <a:ext cx="6860540" cy="0"/>
          </a:xfrm>
          <a:custGeom>
            <a:avLst/>
            <a:gdLst/>
            <a:ahLst/>
            <a:cxnLst/>
            <a:rect l="l" t="t" r="r" b="b"/>
            <a:pathLst>
              <a:path w="6860540">
                <a:moveTo>
                  <a:pt x="0" y="0"/>
                </a:moveTo>
                <a:lnTo>
                  <a:pt x="6860093" y="0"/>
                </a:lnTo>
              </a:path>
            </a:pathLst>
          </a:custGeom>
          <a:ln w="9528">
            <a:solidFill>
              <a:srgbClr val="250DAB"/>
            </a:solidFill>
          </a:ln>
        </p:spPr>
        <p:txBody>
          <a:bodyPr wrap="square" lIns="0" tIns="0" rIns="0" bIns="0" rtlCol="0"/>
          <a:lstStyle/>
          <a:p>
            <a:endParaRPr/>
          </a:p>
        </p:txBody>
      </p:sp>
      <p:sp>
        <p:nvSpPr>
          <p:cNvPr id="1048585" name="bg object 20"/>
          <p:cNvSpPr/>
          <p:nvPr/>
        </p:nvSpPr>
        <p:spPr>
          <a:xfrm>
            <a:off x="339839" y="2882384"/>
            <a:ext cx="6860540" cy="0"/>
          </a:xfrm>
          <a:custGeom>
            <a:avLst/>
            <a:gdLst/>
            <a:ahLst/>
            <a:cxnLst/>
            <a:rect l="l" t="t" r="r" b="b"/>
            <a:pathLst>
              <a:path w="6860540">
                <a:moveTo>
                  <a:pt x="0" y="0"/>
                </a:moveTo>
                <a:lnTo>
                  <a:pt x="6860093" y="0"/>
                </a:lnTo>
              </a:path>
            </a:pathLst>
          </a:custGeom>
          <a:ln w="9528">
            <a:solidFill>
              <a:srgbClr val="250DAB"/>
            </a:solidFill>
          </a:ln>
        </p:spPr>
        <p:txBody>
          <a:bodyPr wrap="square" lIns="0" tIns="0" rIns="0" bIns="0" rtlCol="0"/>
          <a:lstStyle/>
          <a:p>
            <a:endParaRPr/>
          </a:p>
        </p:txBody>
      </p:sp>
      <p:pic>
        <p:nvPicPr>
          <p:cNvPr id="2097153" name="bg object 21"/>
          <p:cNvPicPr>
            <a:picLocks/>
          </p:cNvPicPr>
          <p:nvPr/>
        </p:nvPicPr>
        <p:blipFill>
          <a:blip r:embed="rId3" cstate="print"/>
          <a:stretch>
            <a:fillRect/>
          </a:stretch>
        </p:blipFill>
        <p:spPr>
          <a:xfrm>
            <a:off x="532695" y="2570071"/>
            <a:ext cx="219157" cy="219157"/>
          </a:xfrm>
          <a:prstGeom prst="rect">
            <a:avLst/>
          </a:prstGeom>
        </p:spPr>
      </p:pic>
      <p:pic>
        <p:nvPicPr>
          <p:cNvPr id="2097154" name="bg object 22"/>
          <p:cNvPicPr>
            <a:picLocks/>
          </p:cNvPicPr>
          <p:nvPr/>
        </p:nvPicPr>
        <p:blipFill>
          <a:blip r:embed="rId4" cstate="print"/>
          <a:stretch>
            <a:fillRect/>
          </a:stretch>
        </p:blipFill>
        <p:spPr>
          <a:xfrm>
            <a:off x="3279678" y="2570069"/>
            <a:ext cx="219157" cy="219157"/>
          </a:xfrm>
          <a:prstGeom prst="rect">
            <a:avLst/>
          </a:prstGeom>
        </p:spPr>
      </p:pic>
      <p:pic>
        <p:nvPicPr>
          <p:cNvPr id="2097155" name="bg object 23"/>
          <p:cNvPicPr>
            <a:picLocks/>
          </p:cNvPicPr>
          <p:nvPr/>
        </p:nvPicPr>
        <p:blipFill>
          <a:blip r:embed="rId5" cstate="print"/>
          <a:stretch>
            <a:fillRect/>
          </a:stretch>
        </p:blipFill>
        <p:spPr>
          <a:xfrm>
            <a:off x="5240822" y="2570071"/>
            <a:ext cx="219157" cy="219157"/>
          </a:xfrm>
          <a:prstGeom prst="rect">
            <a:avLst/>
          </a:prstGeom>
        </p:spPr>
      </p:pic>
      <p:sp>
        <p:nvSpPr>
          <p:cNvPr id="1048586" name="bg object 24"/>
          <p:cNvSpPr/>
          <p:nvPr/>
        </p:nvSpPr>
        <p:spPr>
          <a:xfrm>
            <a:off x="3395155" y="3656267"/>
            <a:ext cx="0" cy="5842635"/>
          </a:xfrm>
          <a:custGeom>
            <a:avLst/>
            <a:gdLst/>
            <a:ahLst/>
            <a:cxnLst/>
            <a:rect l="l" t="t" r="r" b="b"/>
            <a:pathLst>
              <a:path h="5842634">
                <a:moveTo>
                  <a:pt x="0" y="5842153"/>
                </a:moveTo>
                <a:lnTo>
                  <a:pt x="0" y="0"/>
                </a:lnTo>
              </a:path>
            </a:pathLst>
          </a:custGeom>
          <a:ln w="19057">
            <a:solidFill>
              <a:srgbClr val="250DAB"/>
            </a:solidFill>
          </a:ln>
        </p:spPr>
        <p:txBody>
          <a:bodyPr wrap="square" lIns="0" tIns="0" rIns="0" bIns="0" rtlCol="0"/>
          <a:lstStyle/>
          <a:p>
            <a:endParaRPr/>
          </a:p>
        </p:txBody>
      </p:sp>
      <p:pic>
        <p:nvPicPr>
          <p:cNvPr id="2097156" name="bg object 25"/>
          <p:cNvPicPr>
            <a:picLocks/>
          </p:cNvPicPr>
          <p:nvPr/>
        </p:nvPicPr>
        <p:blipFill>
          <a:blip r:embed="rId6" cstate="print"/>
          <a:stretch>
            <a:fillRect/>
          </a:stretch>
        </p:blipFill>
        <p:spPr>
          <a:xfrm>
            <a:off x="3357041" y="3584803"/>
            <a:ext cx="76228" cy="76228"/>
          </a:xfrm>
          <a:prstGeom prst="rect">
            <a:avLst/>
          </a:prstGeom>
        </p:spPr>
      </p:pic>
      <p:sp>
        <p:nvSpPr>
          <p:cNvPr id="1048587" name="bg object 26"/>
          <p:cNvSpPr/>
          <p:nvPr/>
        </p:nvSpPr>
        <p:spPr>
          <a:xfrm>
            <a:off x="3395155" y="9569882"/>
            <a:ext cx="0" cy="683895"/>
          </a:xfrm>
          <a:custGeom>
            <a:avLst/>
            <a:gdLst/>
            <a:ahLst/>
            <a:cxnLst/>
            <a:rect l="l" t="t" r="r" b="b"/>
            <a:pathLst>
              <a:path h="683895">
                <a:moveTo>
                  <a:pt x="0" y="683498"/>
                </a:moveTo>
                <a:lnTo>
                  <a:pt x="0" y="0"/>
                </a:lnTo>
              </a:path>
            </a:pathLst>
          </a:custGeom>
          <a:ln w="19057">
            <a:solidFill>
              <a:srgbClr val="250DAB"/>
            </a:solidFill>
          </a:ln>
        </p:spPr>
        <p:txBody>
          <a:bodyPr wrap="square" lIns="0" tIns="0" rIns="0" bIns="0" rtlCol="0"/>
          <a:lstStyle/>
          <a:p>
            <a:endParaRPr/>
          </a:p>
        </p:txBody>
      </p:sp>
      <p:pic>
        <p:nvPicPr>
          <p:cNvPr id="2097157" name="bg object 27"/>
          <p:cNvPicPr>
            <a:picLocks/>
          </p:cNvPicPr>
          <p:nvPr/>
        </p:nvPicPr>
        <p:blipFill>
          <a:blip r:embed="rId6" cstate="print"/>
          <a:stretch>
            <a:fillRect/>
          </a:stretch>
        </p:blipFill>
        <p:spPr>
          <a:xfrm>
            <a:off x="3357041" y="9498417"/>
            <a:ext cx="76228" cy="76228"/>
          </a:xfrm>
          <a:prstGeom prst="rect">
            <a:avLst/>
          </a:prstGeom>
        </p:spPr>
      </p:pic>
      <p:sp>
        <p:nvSpPr>
          <p:cNvPr id="1048588" name="Holder 2"/>
          <p:cNvSpPr>
            <a:spLocks noGrp="1"/>
          </p:cNvSpPr>
          <p:nvPr>
            <p:ph type="title"/>
          </p:nvPr>
        </p:nvSpPr>
        <p:spPr/>
        <p:txBody>
          <a:bodyPr lIns="0" tIns="0" rIns="0" bIns="0"/>
          <a:lstStyle>
            <a:lvl1pPr>
              <a:defRPr sz="3000" b="0" i="0">
                <a:solidFill>
                  <a:srgbClr val="07113C"/>
                </a:solidFill>
                <a:latin typeface="Arial Black"/>
                <a:cs typeface="Arial Black"/>
              </a:defRPr>
            </a:lvl1pPr>
          </a:lstStyle>
          <a:p>
            <a:endParaRPr/>
          </a:p>
        </p:txBody>
      </p:sp>
      <p:sp>
        <p:nvSpPr>
          <p:cNvPr id="1048589" name="Holder 3"/>
          <p:cNvSpPr>
            <a:spLocks noGrp="1"/>
          </p:cNvSpPr>
          <p:nvPr>
            <p:ph type="body" idx="1"/>
          </p:nvPr>
        </p:nvSpPr>
        <p:spPr/>
        <p:txBody>
          <a:bodyPr lIns="0" tIns="0" rIns="0" bIns="0"/>
          <a:lstStyle>
            <a:lvl1pPr>
              <a:defRPr sz="900" b="1" i="0">
                <a:solidFill>
                  <a:srgbClr val="07113C"/>
                </a:solidFill>
                <a:latin typeface="Century Gothic"/>
                <a:cs typeface="Century Gothic"/>
              </a:defRPr>
            </a:lvl1pPr>
          </a:lstStyle>
          <a:p>
            <a:endParaRPr/>
          </a:p>
        </p:txBody>
      </p:sp>
      <p:sp>
        <p:nvSpPr>
          <p:cNvPr id="1048590"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1"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592"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25" name="Holder 2"/>
          <p:cNvSpPr>
            <a:spLocks noGrp="1"/>
          </p:cNvSpPr>
          <p:nvPr>
            <p:ph type="title"/>
          </p:nvPr>
        </p:nvSpPr>
        <p:spPr/>
        <p:txBody>
          <a:bodyPr lIns="0" tIns="0" rIns="0" bIns="0"/>
          <a:lstStyle>
            <a:lvl1pPr>
              <a:defRPr sz="3000" b="0" i="0">
                <a:solidFill>
                  <a:srgbClr val="07113C"/>
                </a:solidFill>
                <a:latin typeface="Arial Black"/>
                <a:cs typeface="Arial Black"/>
              </a:defRPr>
            </a:lvl1pPr>
          </a:lstStyle>
          <a:p>
            <a:endParaRPr/>
          </a:p>
        </p:txBody>
      </p:sp>
      <p:sp>
        <p:nvSpPr>
          <p:cNvPr id="1048626" name="Holder 3"/>
          <p:cNvSpPr>
            <a:spLocks noGrp="1"/>
          </p:cNvSpPr>
          <p:nvPr>
            <p:ph sz="half" idx="2"/>
          </p:nvPr>
        </p:nvSpPr>
        <p:spPr>
          <a:xfrm>
            <a:off x="378142" y="2460942"/>
            <a:ext cx="3289839" cy="7061835"/>
          </a:xfrm>
          <a:prstGeom prst="rect">
            <a:avLst/>
          </a:prstGeom>
        </p:spPr>
        <p:txBody>
          <a:bodyPr wrap="square" lIns="0" tIns="0" rIns="0" bIns="0">
            <a:spAutoFit/>
          </a:bodyPr>
          <a:lstStyle/>
          <a:p>
            <a:endParaRPr/>
          </a:p>
        </p:txBody>
      </p:sp>
      <p:sp>
        <p:nvSpPr>
          <p:cNvPr id="1048627" name="Holder 4"/>
          <p:cNvSpPr>
            <a:spLocks noGrp="1"/>
          </p:cNvSpPr>
          <p:nvPr>
            <p:ph sz="half" idx="3"/>
          </p:nvPr>
        </p:nvSpPr>
        <p:spPr>
          <a:xfrm>
            <a:off x="3894867" y="2460942"/>
            <a:ext cx="3289839" cy="7061835"/>
          </a:xfrm>
          <a:prstGeom prst="rect">
            <a:avLst/>
          </a:prstGeom>
        </p:spPr>
        <p:txBody>
          <a:bodyPr wrap="square" lIns="0" tIns="0" rIns="0" bIns="0">
            <a:spAutoFit/>
          </a:bodyPr>
          <a:lstStyle/>
          <a:p>
            <a:endParaRPr/>
          </a:p>
        </p:txBody>
      </p:sp>
      <p:sp>
        <p:nvSpPr>
          <p:cNvPr id="1048628"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9"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630"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31" name="Holder 2"/>
          <p:cNvSpPr>
            <a:spLocks noGrp="1"/>
          </p:cNvSpPr>
          <p:nvPr>
            <p:ph type="title"/>
          </p:nvPr>
        </p:nvSpPr>
        <p:spPr/>
        <p:txBody>
          <a:bodyPr lIns="0" tIns="0" rIns="0" bIns="0"/>
          <a:lstStyle>
            <a:lvl1pPr>
              <a:defRPr sz="3000" b="0" i="0">
                <a:solidFill>
                  <a:srgbClr val="07113C"/>
                </a:solidFill>
                <a:latin typeface="Arial Black"/>
                <a:cs typeface="Arial Black"/>
              </a:defRPr>
            </a:lvl1pPr>
          </a:lstStyle>
          <a:p>
            <a:endParaRPr/>
          </a:p>
        </p:txBody>
      </p:sp>
      <p:sp>
        <p:nvSpPr>
          <p:cNvPr id="1048632"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33"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634"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048605" name="bg object 16"/>
          <p:cNvSpPr/>
          <p:nvPr/>
        </p:nvSpPr>
        <p:spPr>
          <a:xfrm>
            <a:off x="339839" y="0"/>
            <a:ext cx="6883400" cy="130810"/>
          </a:xfrm>
          <a:custGeom>
            <a:avLst/>
            <a:gdLst/>
            <a:ahLst/>
            <a:cxnLst/>
            <a:rect l="l" t="t" r="r" b="b"/>
            <a:pathLst>
              <a:path w="6883400" h="130810">
                <a:moveTo>
                  <a:pt x="6883176" y="130294"/>
                </a:moveTo>
                <a:lnTo>
                  <a:pt x="0" y="130294"/>
                </a:lnTo>
                <a:lnTo>
                  <a:pt x="0" y="0"/>
                </a:lnTo>
                <a:lnTo>
                  <a:pt x="6883176" y="0"/>
                </a:lnTo>
                <a:lnTo>
                  <a:pt x="6883176" y="130294"/>
                </a:lnTo>
                <a:close/>
              </a:path>
            </a:pathLst>
          </a:custGeom>
          <a:solidFill>
            <a:srgbClr val="250DAB"/>
          </a:solidFill>
        </p:spPr>
        <p:txBody>
          <a:bodyPr wrap="square" lIns="0" tIns="0" rIns="0" bIns="0" rtlCol="0"/>
          <a:lstStyle/>
          <a:p>
            <a:endParaRPr/>
          </a:p>
        </p:txBody>
      </p:sp>
      <p:sp>
        <p:nvSpPr>
          <p:cNvPr id="1048606" name="bg object 17"/>
          <p:cNvSpPr/>
          <p:nvPr/>
        </p:nvSpPr>
        <p:spPr>
          <a:xfrm>
            <a:off x="339839" y="10565739"/>
            <a:ext cx="6883400" cy="131445"/>
          </a:xfrm>
          <a:custGeom>
            <a:avLst/>
            <a:gdLst/>
            <a:ahLst/>
            <a:cxnLst/>
            <a:rect l="l" t="t" r="r" b="b"/>
            <a:pathLst>
              <a:path w="6883400" h="131445">
                <a:moveTo>
                  <a:pt x="6883176" y="130835"/>
                </a:moveTo>
                <a:lnTo>
                  <a:pt x="0" y="130835"/>
                </a:lnTo>
                <a:lnTo>
                  <a:pt x="0" y="0"/>
                </a:lnTo>
                <a:lnTo>
                  <a:pt x="6883176" y="0"/>
                </a:lnTo>
                <a:lnTo>
                  <a:pt x="6883176" y="130835"/>
                </a:lnTo>
                <a:close/>
              </a:path>
            </a:pathLst>
          </a:custGeom>
          <a:solidFill>
            <a:srgbClr val="004AAC"/>
          </a:solidFill>
        </p:spPr>
        <p:txBody>
          <a:bodyPr wrap="square" lIns="0" tIns="0" rIns="0" bIns="0" rtlCol="0"/>
          <a:lstStyle/>
          <a:p>
            <a:endParaRPr/>
          </a:p>
        </p:txBody>
      </p:sp>
      <p:sp>
        <p:nvSpPr>
          <p:cNvPr id="1048607" name="bg object 18"/>
          <p:cNvSpPr/>
          <p:nvPr/>
        </p:nvSpPr>
        <p:spPr>
          <a:xfrm>
            <a:off x="3385645" y="369304"/>
            <a:ext cx="8890" cy="952500"/>
          </a:xfrm>
          <a:custGeom>
            <a:avLst/>
            <a:gdLst/>
            <a:ahLst/>
            <a:cxnLst/>
            <a:rect l="l" t="t" r="r" b="b"/>
            <a:pathLst>
              <a:path w="8889" h="952500">
                <a:moveTo>
                  <a:pt x="0" y="952123"/>
                </a:moveTo>
                <a:lnTo>
                  <a:pt x="8863" y="0"/>
                </a:lnTo>
              </a:path>
            </a:pathLst>
          </a:custGeom>
          <a:ln w="19057">
            <a:solidFill>
              <a:srgbClr val="250DAB"/>
            </a:solidFill>
          </a:ln>
        </p:spPr>
        <p:txBody>
          <a:bodyPr wrap="square" lIns="0" tIns="0" rIns="0" bIns="0" rtlCol="0"/>
          <a:lstStyle/>
          <a:p>
            <a:endParaRPr/>
          </a:p>
        </p:txBody>
      </p:sp>
      <p:pic>
        <p:nvPicPr>
          <p:cNvPr id="2097159" name="bg object 19"/>
          <p:cNvPicPr>
            <a:picLocks/>
          </p:cNvPicPr>
          <p:nvPr/>
        </p:nvPicPr>
        <p:blipFill>
          <a:blip r:embed="rId2" cstate="print"/>
          <a:stretch>
            <a:fillRect/>
          </a:stretch>
        </p:blipFill>
        <p:spPr>
          <a:xfrm>
            <a:off x="3356705" y="297844"/>
            <a:ext cx="76226" cy="76226"/>
          </a:xfrm>
          <a:prstGeom prst="rect">
            <a:avLst/>
          </a:prstGeom>
        </p:spPr>
      </p:pic>
      <p:sp>
        <p:nvSpPr>
          <p:cNvPr id="1048608" name="bg object 20"/>
          <p:cNvSpPr/>
          <p:nvPr/>
        </p:nvSpPr>
        <p:spPr>
          <a:xfrm>
            <a:off x="3385615" y="1392849"/>
            <a:ext cx="0" cy="1672589"/>
          </a:xfrm>
          <a:custGeom>
            <a:avLst/>
            <a:gdLst/>
            <a:ahLst/>
            <a:cxnLst/>
            <a:rect l="l" t="t" r="r" b="b"/>
            <a:pathLst>
              <a:path h="1672589">
                <a:moveTo>
                  <a:pt x="0" y="1672554"/>
                </a:moveTo>
                <a:lnTo>
                  <a:pt x="0" y="0"/>
                </a:lnTo>
              </a:path>
            </a:pathLst>
          </a:custGeom>
          <a:ln w="19057">
            <a:solidFill>
              <a:srgbClr val="250DAB"/>
            </a:solidFill>
          </a:ln>
        </p:spPr>
        <p:txBody>
          <a:bodyPr wrap="square" lIns="0" tIns="0" rIns="0" bIns="0" rtlCol="0"/>
          <a:lstStyle/>
          <a:p>
            <a:endParaRPr/>
          </a:p>
        </p:txBody>
      </p:sp>
      <p:pic>
        <p:nvPicPr>
          <p:cNvPr id="2097160" name="bg object 21"/>
          <p:cNvPicPr>
            <a:picLocks/>
          </p:cNvPicPr>
          <p:nvPr/>
        </p:nvPicPr>
        <p:blipFill>
          <a:blip r:embed="rId3" cstate="print"/>
          <a:stretch>
            <a:fillRect/>
          </a:stretch>
        </p:blipFill>
        <p:spPr>
          <a:xfrm>
            <a:off x="3347501" y="1321385"/>
            <a:ext cx="76228" cy="76228"/>
          </a:xfrm>
          <a:prstGeom prst="rect">
            <a:avLst/>
          </a:prstGeom>
        </p:spPr>
      </p:pic>
      <p:sp>
        <p:nvSpPr>
          <p:cNvPr id="1048609" name="bg object 22"/>
          <p:cNvSpPr/>
          <p:nvPr/>
        </p:nvSpPr>
        <p:spPr>
          <a:xfrm>
            <a:off x="3395627" y="3136869"/>
            <a:ext cx="9525" cy="1406525"/>
          </a:xfrm>
          <a:custGeom>
            <a:avLst/>
            <a:gdLst/>
            <a:ahLst/>
            <a:cxnLst/>
            <a:rect l="l" t="t" r="r" b="b"/>
            <a:pathLst>
              <a:path w="9525" h="1406525">
                <a:moveTo>
                  <a:pt x="9067" y="1406112"/>
                </a:moveTo>
                <a:lnTo>
                  <a:pt x="0" y="0"/>
                </a:lnTo>
              </a:path>
            </a:pathLst>
          </a:custGeom>
          <a:ln w="19057">
            <a:solidFill>
              <a:srgbClr val="250DAB"/>
            </a:solidFill>
          </a:ln>
        </p:spPr>
        <p:txBody>
          <a:bodyPr wrap="square" lIns="0" tIns="0" rIns="0" bIns="0" rtlCol="0"/>
          <a:lstStyle/>
          <a:p>
            <a:endParaRPr/>
          </a:p>
        </p:txBody>
      </p:sp>
      <p:pic>
        <p:nvPicPr>
          <p:cNvPr id="2097161" name="bg object 23"/>
          <p:cNvPicPr>
            <a:picLocks/>
          </p:cNvPicPr>
          <p:nvPr/>
        </p:nvPicPr>
        <p:blipFill>
          <a:blip r:embed="rId4" cstate="print"/>
          <a:stretch>
            <a:fillRect/>
          </a:stretch>
        </p:blipFill>
        <p:spPr>
          <a:xfrm>
            <a:off x="3357298" y="3065406"/>
            <a:ext cx="76227" cy="76227"/>
          </a:xfrm>
          <a:prstGeom prst="rect">
            <a:avLst/>
          </a:prstGeom>
        </p:spPr>
      </p:pic>
      <p:sp>
        <p:nvSpPr>
          <p:cNvPr id="1048610" name="bg object 24"/>
          <p:cNvSpPr/>
          <p:nvPr/>
        </p:nvSpPr>
        <p:spPr>
          <a:xfrm>
            <a:off x="339841" y="297866"/>
            <a:ext cx="2856230" cy="1306195"/>
          </a:xfrm>
          <a:custGeom>
            <a:avLst/>
            <a:gdLst/>
            <a:ahLst/>
            <a:cxnLst/>
            <a:rect l="l" t="t" r="r" b="b"/>
            <a:pathLst>
              <a:path w="2856230" h="1306195">
                <a:moveTo>
                  <a:pt x="2856071" y="1305632"/>
                </a:moveTo>
                <a:lnTo>
                  <a:pt x="0" y="1305632"/>
                </a:lnTo>
                <a:lnTo>
                  <a:pt x="0" y="0"/>
                </a:lnTo>
                <a:lnTo>
                  <a:pt x="2856071" y="0"/>
                </a:lnTo>
                <a:lnTo>
                  <a:pt x="2856071" y="1305632"/>
                </a:lnTo>
                <a:close/>
              </a:path>
            </a:pathLst>
          </a:custGeom>
          <a:solidFill>
            <a:srgbClr val="F5F6FF"/>
          </a:solidFill>
        </p:spPr>
        <p:txBody>
          <a:bodyPr wrap="square" lIns="0" tIns="0" rIns="0" bIns="0" rtlCol="0"/>
          <a:lstStyle/>
          <a:p>
            <a:endParaRPr/>
          </a:p>
        </p:txBody>
      </p:sp>
      <p:sp>
        <p:nvSpPr>
          <p:cNvPr id="1048611" name="bg object 25"/>
          <p:cNvSpPr/>
          <p:nvPr/>
        </p:nvSpPr>
        <p:spPr>
          <a:xfrm>
            <a:off x="654113" y="805001"/>
            <a:ext cx="48260" cy="591185"/>
          </a:xfrm>
          <a:custGeom>
            <a:avLst/>
            <a:gdLst/>
            <a:ahLst/>
            <a:cxnLst/>
            <a:rect l="l" t="t" r="r" b="b"/>
            <a:pathLst>
              <a:path w="48259" h="591185">
                <a:moveTo>
                  <a:pt x="47650" y="563803"/>
                </a:moveTo>
                <a:lnTo>
                  <a:pt x="26987" y="543140"/>
                </a:lnTo>
                <a:lnTo>
                  <a:pt x="20662" y="543140"/>
                </a:lnTo>
                <a:lnTo>
                  <a:pt x="0" y="563803"/>
                </a:lnTo>
                <a:lnTo>
                  <a:pt x="0" y="570115"/>
                </a:lnTo>
                <a:lnTo>
                  <a:pt x="20662" y="590778"/>
                </a:lnTo>
                <a:lnTo>
                  <a:pt x="26987" y="590778"/>
                </a:lnTo>
                <a:lnTo>
                  <a:pt x="47650" y="570115"/>
                </a:lnTo>
                <a:lnTo>
                  <a:pt x="47650" y="566953"/>
                </a:lnTo>
                <a:lnTo>
                  <a:pt x="47650" y="563803"/>
                </a:lnTo>
                <a:close/>
              </a:path>
              <a:path w="48259" h="591185">
                <a:moveTo>
                  <a:pt x="47650" y="382752"/>
                </a:moveTo>
                <a:lnTo>
                  <a:pt x="26987" y="362089"/>
                </a:lnTo>
                <a:lnTo>
                  <a:pt x="20662" y="362089"/>
                </a:lnTo>
                <a:lnTo>
                  <a:pt x="0" y="382752"/>
                </a:lnTo>
                <a:lnTo>
                  <a:pt x="0" y="389077"/>
                </a:lnTo>
                <a:lnTo>
                  <a:pt x="20662" y="409740"/>
                </a:lnTo>
                <a:lnTo>
                  <a:pt x="26987" y="409740"/>
                </a:lnTo>
                <a:lnTo>
                  <a:pt x="47650" y="389077"/>
                </a:lnTo>
                <a:lnTo>
                  <a:pt x="47650" y="385914"/>
                </a:lnTo>
                <a:lnTo>
                  <a:pt x="47650" y="382752"/>
                </a:lnTo>
                <a:close/>
              </a:path>
              <a:path w="48259" h="591185">
                <a:moveTo>
                  <a:pt x="47650" y="201714"/>
                </a:moveTo>
                <a:lnTo>
                  <a:pt x="26987" y="181051"/>
                </a:lnTo>
                <a:lnTo>
                  <a:pt x="20662" y="181051"/>
                </a:lnTo>
                <a:lnTo>
                  <a:pt x="0" y="201714"/>
                </a:lnTo>
                <a:lnTo>
                  <a:pt x="0" y="208026"/>
                </a:lnTo>
                <a:lnTo>
                  <a:pt x="20662" y="228688"/>
                </a:lnTo>
                <a:lnTo>
                  <a:pt x="26987" y="228688"/>
                </a:lnTo>
                <a:lnTo>
                  <a:pt x="47650" y="208026"/>
                </a:lnTo>
                <a:lnTo>
                  <a:pt x="47650" y="204876"/>
                </a:lnTo>
                <a:lnTo>
                  <a:pt x="47650" y="201714"/>
                </a:lnTo>
                <a:close/>
              </a:path>
              <a:path w="48259" h="591185">
                <a:moveTo>
                  <a:pt x="47650" y="20662"/>
                </a:moveTo>
                <a:lnTo>
                  <a:pt x="26987" y="0"/>
                </a:lnTo>
                <a:lnTo>
                  <a:pt x="20662" y="0"/>
                </a:lnTo>
                <a:lnTo>
                  <a:pt x="0" y="20662"/>
                </a:lnTo>
                <a:lnTo>
                  <a:pt x="0" y="26987"/>
                </a:lnTo>
                <a:lnTo>
                  <a:pt x="20662" y="47650"/>
                </a:lnTo>
                <a:lnTo>
                  <a:pt x="26987" y="47650"/>
                </a:lnTo>
                <a:lnTo>
                  <a:pt x="47650" y="26987"/>
                </a:lnTo>
                <a:lnTo>
                  <a:pt x="47650" y="23825"/>
                </a:lnTo>
                <a:lnTo>
                  <a:pt x="47650" y="20662"/>
                </a:lnTo>
                <a:close/>
              </a:path>
            </a:pathLst>
          </a:custGeom>
          <a:solidFill>
            <a:srgbClr val="07113C"/>
          </a:solidFill>
        </p:spPr>
        <p:txBody>
          <a:bodyPr wrap="square" lIns="0" tIns="0" rIns="0" bIns="0" rtlCol="0"/>
          <a:lstStyle/>
          <a:p>
            <a:endParaRPr/>
          </a:p>
        </p:txBody>
      </p:sp>
      <p:sp>
        <p:nvSpPr>
          <p:cNvPr id="104861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1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61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bg object 16"/>
          <p:cNvSpPr/>
          <p:nvPr/>
        </p:nvSpPr>
        <p:spPr>
          <a:xfrm>
            <a:off x="339839" y="0"/>
            <a:ext cx="6883400" cy="130810"/>
          </a:xfrm>
          <a:custGeom>
            <a:avLst/>
            <a:gdLst/>
            <a:ahLst/>
            <a:cxnLst/>
            <a:rect l="l" t="t" r="r" b="b"/>
            <a:pathLst>
              <a:path w="6883400" h="130810">
                <a:moveTo>
                  <a:pt x="6883176" y="130294"/>
                </a:moveTo>
                <a:lnTo>
                  <a:pt x="0" y="130294"/>
                </a:lnTo>
                <a:lnTo>
                  <a:pt x="0" y="0"/>
                </a:lnTo>
                <a:lnTo>
                  <a:pt x="6883176" y="0"/>
                </a:lnTo>
                <a:lnTo>
                  <a:pt x="6883176" y="130294"/>
                </a:lnTo>
                <a:close/>
              </a:path>
            </a:pathLst>
          </a:custGeom>
          <a:solidFill>
            <a:srgbClr val="250DAB"/>
          </a:solidFill>
        </p:spPr>
        <p:txBody>
          <a:bodyPr wrap="square" lIns="0" tIns="0" rIns="0" bIns="0" rtlCol="0"/>
          <a:lstStyle/>
          <a:p>
            <a:endParaRPr/>
          </a:p>
        </p:txBody>
      </p:sp>
      <p:sp>
        <p:nvSpPr>
          <p:cNvPr id="1048577" name="Holder 2"/>
          <p:cNvSpPr>
            <a:spLocks noGrp="1"/>
          </p:cNvSpPr>
          <p:nvPr>
            <p:ph type="title"/>
          </p:nvPr>
        </p:nvSpPr>
        <p:spPr>
          <a:xfrm>
            <a:off x="1993191" y="165153"/>
            <a:ext cx="4832350" cy="483234"/>
          </a:xfrm>
          <a:prstGeom prst="rect">
            <a:avLst/>
          </a:prstGeom>
        </p:spPr>
        <p:txBody>
          <a:bodyPr wrap="square" lIns="0" tIns="0" rIns="0" bIns="0">
            <a:spAutoFit/>
          </a:bodyPr>
          <a:lstStyle>
            <a:lvl1pPr>
              <a:defRPr sz="3000" b="0" i="0">
                <a:solidFill>
                  <a:srgbClr val="07113C"/>
                </a:solidFill>
                <a:latin typeface="Arial Black"/>
                <a:cs typeface="Arial Black"/>
              </a:defRPr>
            </a:lvl1pPr>
          </a:lstStyle>
          <a:p>
            <a:endParaRPr/>
          </a:p>
        </p:txBody>
      </p:sp>
      <p:sp>
        <p:nvSpPr>
          <p:cNvPr id="1048578" name="Holder 3"/>
          <p:cNvSpPr>
            <a:spLocks noGrp="1"/>
          </p:cNvSpPr>
          <p:nvPr>
            <p:ph type="body" idx="1"/>
          </p:nvPr>
        </p:nvSpPr>
        <p:spPr>
          <a:xfrm>
            <a:off x="3496614" y="3528929"/>
            <a:ext cx="3853815" cy="6664959"/>
          </a:xfrm>
          <a:prstGeom prst="rect">
            <a:avLst/>
          </a:prstGeom>
        </p:spPr>
        <p:txBody>
          <a:bodyPr wrap="square" lIns="0" tIns="0" rIns="0" bIns="0">
            <a:spAutoFit/>
          </a:bodyPr>
          <a:lstStyle>
            <a:lvl1pPr>
              <a:defRPr sz="900" b="1" i="0">
                <a:solidFill>
                  <a:srgbClr val="07113C"/>
                </a:solidFill>
                <a:latin typeface="Century Gothic"/>
                <a:cs typeface="Century Gothic"/>
              </a:defRPr>
            </a:lvl1pPr>
          </a:lstStyle>
          <a:p>
            <a:endParaRPr/>
          </a:p>
        </p:txBody>
      </p:sp>
      <p:sp>
        <p:nvSpPr>
          <p:cNvPr id="1048579" name="Holder 4"/>
          <p:cNvSpPr>
            <a:spLocks noGrp="1"/>
          </p:cNvSpPr>
          <p:nvPr>
            <p:ph type="ftr" sz="quarter" idx="5"/>
          </p:nvPr>
        </p:nvSpPr>
        <p:spPr>
          <a:xfrm>
            <a:off x="2571369" y="9950768"/>
            <a:ext cx="2420112"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80" name="Holder 5"/>
          <p:cNvSpPr>
            <a:spLocks noGrp="1"/>
          </p:cNvSpPr>
          <p:nvPr>
            <p:ph type="dt" sz="half" idx="6"/>
          </p:nvPr>
        </p:nvSpPr>
        <p:spPr>
          <a:xfrm>
            <a:off x="378142" y="9950768"/>
            <a:ext cx="1739455" cy="53498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1048581" name="Holder 6"/>
          <p:cNvSpPr>
            <a:spLocks noGrp="1"/>
          </p:cNvSpPr>
          <p:nvPr>
            <p:ph type="sldNum" sz="quarter" idx="7"/>
          </p:nvPr>
        </p:nvSpPr>
        <p:spPr>
          <a:xfrm>
            <a:off x="5445252" y="9950768"/>
            <a:ext cx="1739455" cy="53498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mailto:Djimranguefransix@gmail.co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mailto:aali@coris-bank.com" TargetMode="External"/><Relationship Id="rId2" Type="http://schemas.openxmlformats.org/officeDocument/2006/relationships/image" Target="../media/image5.png"/><Relationship Id="rId1" Type="http://schemas.openxmlformats.org/officeDocument/2006/relationships/slideLayout" Target="../slideLayouts/slideLayout5.xml"/><Relationship Id="rId5" Type="http://schemas.openxmlformats.org/officeDocument/2006/relationships/hyperlink" Target="mailto:gadmordjangued@gmail.com" TargetMode="External"/><Relationship Id="rId4" Type="http://schemas.openxmlformats.org/officeDocument/2006/relationships/hyperlink" Target="mailto:lebon.Champ@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object 2"/>
          <p:cNvSpPr txBox="1">
            <a:spLocks noGrp="1"/>
          </p:cNvSpPr>
          <p:nvPr>
            <p:ph type="title"/>
          </p:nvPr>
        </p:nvSpPr>
        <p:spPr>
          <a:xfrm>
            <a:off x="1993190" y="488052"/>
            <a:ext cx="5563309" cy="289823"/>
          </a:xfrm>
          <a:prstGeom prst="rect">
            <a:avLst/>
          </a:prstGeom>
        </p:spPr>
        <p:txBody>
          <a:bodyPr vert="horz" wrap="square" lIns="0" tIns="12700" rIns="0" bIns="0" rtlCol="0">
            <a:spAutoFit/>
          </a:bodyPr>
          <a:lstStyle/>
          <a:p>
            <a:pPr marL="12700" algn="ctr">
              <a:lnSpc>
                <a:spcPct val="100000"/>
              </a:lnSpc>
              <a:spcBef>
                <a:spcPts val="100"/>
              </a:spcBef>
            </a:pPr>
            <a:r>
              <a:rPr lang="fr-FR" sz="1800" spc="-30" dirty="0" smtClean="0"/>
              <a:t>DJIMRANGUE DODJISSENGAR </a:t>
            </a:r>
            <a:r>
              <a:rPr lang="fr-FR" sz="1800" spc="-30" dirty="0"/>
              <a:t>F</a:t>
            </a:r>
            <a:r>
              <a:rPr lang="fr-FR" sz="1800" spc="-30" dirty="0" smtClean="0"/>
              <a:t>rancis</a:t>
            </a:r>
            <a:endParaRPr lang="fr-FR" sz="1800" spc="-170" dirty="0"/>
          </a:p>
        </p:txBody>
      </p:sp>
      <p:sp>
        <p:nvSpPr>
          <p:cNvPr id="1048594" name="object 4"/>
          <p:cNvSpPr txBox="1"/>
          <p:nvPr/>
        </p:nvSpPr>
        <p:spPr>
          <a:xfrm>
            <a:off x="3525387" y="3201219"/>
            <a:ext cx="1548263" cy="243656"/>
          </a:xfrm>
          <a:prstGeom prst="rect">
            <a:avLst/>
          </a:prstGeom>
        </p:spPr>
        <p:txBody>
          <a:bodyPr vert="horz" wrap="square" lIns="0" tIns="12700" rIns="0" bIns="0" rtlCol="0">
            <a:spAutoFit/>
          </a:bodyPr>
          <a:lstStyle/>
          <a:p>
            <a:pPr marL="12700">
              <a:lnSpc>
                <a:spcPct val="100000"/>
              </a:lnSpc>
              <a:spcBef>
                <a:spcPts val="100"/>
              </a:spcBef>
            </a:pPr>
            <a:r>
              <a:rPr sz="1500" b="1" spc="85" dirty="0">
                <a:solidFill>
                  <a:srgbClr val="07113C"/>
                </a:solidFill>
                <a:latin typeface="Century Gothic"/>
                <a:cs typeface="Century Gothic"/>
              </a:rPr>
              <a:t>EXPÉRIENCE</a:t>
            </a:r>
            <a:endParaRPr sz="1500" dirty="0">
              <a:latin typeface="Century Gothic"/>
              <a:cs typeface="Century Gothic"/>
            </a:endParaRPr>
          </a:p>
        </p:txBody>
      </p:sp>
      <p:sp>
        <p:nvSpPr>
          <p:cNvPr id="1048595" name="object 5"/>
          <p:cNvSpPr txBox="1"/>
          <p:nvPr/>
        </p:nvSpPr>
        <p:spPr>
          <a:xfrm>
            <a:off x="120650" y="3201219"/>
            <a:ext cx="3252337" cy="2934136"/>
          </a:xfrm>
          <a:prstGeom prst="rect">
            <a:avLst/>
          </a:prstGeom>
          <a:solidFill>
            <a:srgbClr val="F5F6FF"/>
          </a:solidFill>
        </p:spPr>
        <p:txBody>
          <a:bodyPr vert="horz" wrap="square" lIns="0" tIns="29209" rIns="0" bIns="0" rtlCol="0">
            <a:spAutoFit/>
          </a:bodyPr>
          <a:lstStyle/>
          <a:p>
            <a:pPr marL="12700" algn="ctr">
              <a:lnSpc>
                <a:spcPct val="125000"/>
              </a:lnSpc>
              <a:spcBef>
                <a:spcPts val="100"/>
              </a:spcBef>
            </a:pPr>
            <a:r>
              <a:rPr lang="fr-FR" sz="1500" b="1" spc="85" dirty="0">
                <a:solidFill>
                  <a:srgbClr val="07113C"/>
                </a:solidFill>
                <a:latin typeface="Century Gothic"/>
                <a:cs typeface="Century Gothic"/>
              </a:rPr>
              <a:t>EDUCATION ET </a:t>
            </a:r>
            <a:r>
              <a:rPr sz="1500" b="1" spc="85" dirty="0" smtClean="0">
                <a:solidFill>
                  <a:srgbClr val="07113C"/>
                </a:solidFill>
                <a:latin typeface="Century Gothic"/>
                <a:cs typeface="Century Gothic"/>
              </a:rPr>
              <a:t>FORMATION</a:t>
            </a:r>
            <a:r>
              <a:rPr lang="fr-FR" sz="1200" kern="100" dirty="0" smtClean="0">
                <a:solidFill>
                  <a:srgbClr val="000000"/>
                </a:solidFill>
                <a:latin typeface="Calibri" panose="020F0502020204030204" pitchFamily="34" charset="0"/>
                <a:ea typeface="Times New Roman" panose="02020603050405020304" pitchFamily="18" charset="0"/>
                <a:cs typeface="+mn-cs"/>
              </a:rPr>
              <a:t> </a:t>
            </a:r>
            <a:endParaRPr lang="fr-FR" sz="1200" kern="100" dirty="0">
              <a:solidFill>
                <a:srgbClr val="000000"/>
              </a:solidFill>
              <a:latin typeface="Calibri" panose="020F0502020204030204" pitchFamily="34" charset="0"/>
              <a:ea typeface="Times New Roman" panose="02020603050405020304" pitchFamily="18" charset="0"/>
              <a:cs typeface="+mn-cs"/>
            </a:endParaRPr>
          </a:p>
          <a:p>
            <a:pPr marL="184150" indent="-171450" algn="l">
              <a:lnSpc>
                <a:spcPct val="125000"/>
              </a:lnSpc>
              <a:spcBef>
                <a:spcPts val="100"/>
              </a:spcBef>
              <a:buFont typeface="Courier New" panose="02070309020205020404" pitchFamily="49" charset="0"/>
              <a:buChar char="o"/>
            </a:pPr>
            <a:r>
              <a:rPr lang="fr-FR" sz="1200" b="1" kern="100" dirty="0" smtClean="0">
                <a:solidFill>
                  <a:srgbClr val="000000"/>
                </a:solidFill>
                <a:latin typeface="Calibri" panose="020F0502020204030204" pitchFamily="34" charset="0"/>
                <a:ea typeface="Times New Roman" panose="02020603050405020304" pitchFamily="18" charset="0"/>
                <a:cs typeface="+mn-cs"/>
              </a:rPr>
              <a:t>2023 - 2024 </a:t>
            </a:r>
            <a:r>
              <a:rPr lang="fr-FR" sz="1200" b="1" kern="100" dirty="0">
                <a:solidFill>
                  <a:srgbClr val="000000"/>
                </a:solidFill>
                <a:latin typeface="Calibri" panose="020F0502020204030204" pitchFamily="34" charset="0"/>
                <a:ea typeface="Times New Roman" panose="02020603050405020304" pitchFamily="18" charset="0"/>
                <a:cs typeface="+mn-cs"/>
              </a:rPr>
              <a:t>I MASTER EN </a:t>
            </a:r>
            <a:r>
              <a:rPr lang="fr-FR" sz="1200" b="1" kern="100" dirty="0" smtClean="0">
                <a:solidFill>
                  <a:srgbClr val="000000"/>
                </a:solidFill>
                <a:latin typeface="Calibri" panose="020F0502020204030204" pitchFamily="34" charset="0"/>
                <a:ea typeface="Times New Roman" panose="02020603050405020304" pitchFamily="18" charset="0"/>
                <a:cs typeface="+mn-cs"/>
              </a:rPr>
              <a:t>FINANCE &amp; COMPTABILITE</a:t>
            </a:r>
            <a:endParaRPr lang="fr-FR" sz="1200" b="1" kern="100" dirty="0">
              <a:solidFill>
                <a:srgbClr val="000000"/>
              </a:solidFill>
              <a:latin typeface="Calibri" panose="020F0502020204030204" pitchFamily="34" charset="0"/>
              <a:ea typeface="Times New Roman" panose="02020603050405020304" pitchFamily="18" charset="0"/>
              <a:cs typeface="+mn-cs"/>
            </a:endParaRPr>
          </a:p>
          <a:p>
            <a:pPr marL="12700" algn="l">
              <a:lnSpc>
                <a:spcPct val="125000"/>
              </a:lnSpc>
              <a:spcBef>
                <a:spcPts val="1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université de Dschang-Cameroun</a:t>
            </a:r>
            <a:endParaRPr sz="1200" kern="100" dirty="0">
              <a:solidFill>
                <a:srgbClr val="000000"/>
              </a:solidFill>
              <a:latin typeface="Calibri" panose="020F0502020204030204" pitchFamily="34" charset="0"/>
              <a:ea typeface="Times New Roman" panose="02020603050405020304" pitchFamily="18" charset="0"/>
              <a:cs typeface="+mn-cs"/>
            </a:endParaRPr>
          </a:p>
          <a:p>
            <a:pPr marL="184150" indent="-171450" algn="l">
              <a:lnSpc>
                <a:spcPct val="125000"/>
              </a:lnSpc>
              <a:spcBef>
                <a:spcPts val="600"/>
              </a:spcBef>
              <a:buFont typeface="Courier New" panose="02070309020205020404" pitchFamily="49" charset="0"/>
              <a:buChar char="o"/>
            </a:pPr>
            <a:r>
              <a:rPr lang="fr-FR" sz="1200" b="1" kern="100" dirty="0" smtClean="0">
                <a:solidFill>
                  <a:srgbClr val="000000"/>
                </a:solidFill>
                <a:latin typeface="Calibri" panose="020F0502020204030204" pitchFamily="34" charset="0"/>
                <a:ea typeface="Times New Roman" panose="02020603050405020304" pitchFamily="18" charset="0"/>
              </a:rPr>
              <a:t>2022 </a:t>
            </a:r>
            <a:r>
              <a:rPr lang="fr-FR" sz="1200" b="1" kern="100" dirty="0">
                <a:solidFill>
                  <a:srgbClr val="000000"/>
                </a:solidFill>
                <a:latin typeface="Calibri" panose="020F0502020204030204" pitchFamily="34" charset="0"/>
                <a:ea typeface="Times New Roman" panose="02020603050405020304" pitchFamily="18" charset="0"/>
              </a:rPr>
              <a:t>- </a:t>
            </a:r>
            <a:r>
              <a:rPr lang="fr-FR" sz="1200" b="1" kern="100" dirty="0" smtClean="0">
                <a:solidFill>
                  <a:srgbClr val="000000"/>
                </a:solidFill>
                <a:latin typeface="Calibri" panose="020F0502020204030204" pitchFamily="34" charset="0"/>
                <a:ea typeface="Times New Roman" panose="02020603050405020304" pitchFamily="18" charset="0"/>
              </a:rPr>
              <a:t>2023 </a:t>
            </a:r>
            <a:r>
              <a:rPr lang="fr-FR" sz="1200" b="1" kern="100" dirty="0">
                <a:solidFill>
                  <a:srgbClr val="000000"/>
                </a:solidFill>
                <a:latin typeface="Calibri" panose="020F0502020204030204" pitchFamily="34" charset="0"/>
                <a:ea typeface="Times New Roman" panose="02020603050405020304" pitchFamily="18" charset="0"/>
              </a:rPr>
              <a:t>I </a:t>
            </a:r>
            <a:r>
              <a:rPr lang="fr-FR" sz="1200" b="1" kern="100" dirty="0" smtClean="0">
                <a:solidFill>
                  <a:srgbClr val="000000"/>
                </a:solidFill>
                <a:latin typeface="Calibri" panose="020F0502020204030204" pitchFamily="34" charset="0"/>
                <a:ea typeface="Times New Roman" panose="02020603050405020304" pitchFamily="18" charset="0"/>
              </a:rPr>
              <a:t>MAITRISE </a:t>
            </a:r>
            <a:r>
              <a:rPr lang="fr-FR" sz="1200" b="1" kern="100" dirty="0">
                <a:solidFill>
                  <a:srgbClr val="000000"/>
                </a:solidFill>
                <a:latin typeface="Calibri" panose="020F0502020204030204" pitchFamily="34" charset="0"/>
                <a:ea typeface="Times New Roman" panose="02020603050405020304" pitchFamily="18" charset="0"/>
              </a:rPr>
              <a:t>EN </a:t>
            </a:r>
            <a:r>
              <a:rPr lang="fr-FR" sz="1200" b="1" kern="100" dirty="0" smtClean="0">
                <a:solidFill>
                  <a:srgbClr val="000000"/>
                </a:solidFill>
                <a:latin typeface="Calibri" panose="020F0502020204030204" pitchFamily="34" charset="0"/>
                <a:ea typeface="Times New Roman" panose="02020603050405020304" pitchFamily="18" charset="0"/>
              </a:rPr>
              <a:t>SCIENCE DE GESTION </a:t>
            </a:r>
          </a:p>
          <a:p>
            <a:pPr marL="12700" algn="l">
              <a:lnSpc>
                <a:spcPct val="125000"/>
              </a:lnSpc>
              <a:spcBef>
                <a:spcPts val="600"/>
              </a:spcBef>
            </a:pPr>
            <a:r>
              <a:rPr lang="fr-FR" sz="1200" kern="100" dirty="0" smtClean="0">
                <a:solidFill>
                  <a:srgbClr val="000000"/>
                </a:solidFill>
                <a:latin typeface="Calibri" panose="020F0502020204030204" pitchFamily="34" charset="0"/>
                <a:ea typeface="Times New Roman" panose="02020603050405020304" pitchFamily="18" charset="0"/>
              </a:rPr>
              <a:t>université de N’</a:t>
            </a:r>
            <a:r>
              <a:rPr lang="fr-FR" sz="1200" kern="100" dirty="0" err="1" smtClean="0">
                <a:solidFill>
                  <a:srgbClr val="000000"/>
                </a:solidFill>
                <a:latin typeface="Calibri" panose="020F0502020204030204" pitchFamily="34" charset="0"/>
                <a:ea typeface="Times New Roman" panose="02020603050405020304" pitchFamily="18" charset="0"/>
              </a:rPr>
              <a:t>gaoundéré</a:t>
            </a:r>
            <a:r>
              <a:rPr lang="fr-FR" sz="1200" kern="100" dirty="0" smtClean="0">
                <a:solidFill>
                  <a:srgbClr val="000000"/>
                </a:solidFill>
                <a:latin typeface="Calibri" panose="020F0502020204030204" pitchFamily="34" charset="0"/>
                <a:ea typeface="Times New Roman" panose="02020603050405020304" pitchFamily="18" charset="0"/>
              </a:rPr>
              <a:t>-Cameroun</a:t>
            </a:r>
            <a:endParaRPr lang="fr-FR" sz="1200" kern="100" dirty="0">
              <a:solidFill>
                <a:srgbClr val="000000"/>
              </a:solidFill>
              <a:latin typeface="Calibri" panose="020F0502020204030204" pitchFamily="34" charset="0"/>
              <a:ea typeface="Times New Roman" panose="02020603050405020304" pitchFamily="18" charset="0"/>
            </a:endParaRPr>
          </a:p>
          <a:p>
            <a:pPr marL="171450" indent="-171450">
              <a:lnSpc>
                <a:spcPct val="125000"/>
              </a:lnSpc>
              <a:spcBef>
                <a:spcPts val="950"/>
              </a:spcBef>
              <a:buFont typeface="Courier New" panose="02070309020205020404" pitchFamily="49" charset="0"/>
              <a:buChar char="o"/>
            </a:pPr>
            <a:r>
              <a:rPr lang="fr-FR" sz="1200" b="1" kern="100" dirty="0" smtClean="0">
                <a:solidFill>
                  <a:srgbClr val="000000"/>
                </a:solidFill>
                <a:latin typeface="Calibri" panose="020F0502020204030204" pitchFamily="34" charset="0"/>
                <a:ea typeface="Times New Roman" panose="02020603050405020304" pitchFamily="18" charset="0"/>
              </a:rPr>
              <a:t>2022 - 2023 I LICENCE EN SCIENCE DE GESTION</a:t>
            </a:r>
            <a:endParaRPr sz="1200" kern="100" dirty="0">
              <a:solidFill>
                <a:srgbClr val="000000"/>
              </a:solidFill>
              <a:latin typeface="Calibri" panose="020F0502020204030204" pitchFamily="34" charset="0"/>
              <a:ea typeface="Times New Roman" panose="02020603050405020304" pitchFamily="18" charset="0"/>
              <a:cs typeface="+mn-cs"/>
            </a:endParaRPr>
          </a:p>
          <a:p>
            <a:pPr marL="12700" algn="l">
              <a:lnSpc>
                <a:spcPct val="125000"/>
              </a:lnSpc>
              <a:spcBef>
                <a:spcPts val="600"/>
              </a:spcBef>
            </a:pPr>
            <a:r>
              <a:rPr lang="fr-FR" sz="1200" kern="100" dirty="0" smtClean="0">
                <a:solidFill>
                  <a:srgbClr val="000000"/>
                </a:solidFill>
                <a:latin typeface="Calibri" panose="020F0502020204030204" pitchFamily="34" charset="0"/>
                <a:ea typeface="Times New Roman" panose="02020603050405020304" pitchFamily="18" charset="0"/>
              </a:rPr>
              <a:t>     université de N’</a:t>
            </a:r>
            <a:r>
              <a:rPr lang="fr-FR" sz="1200" kern="100" dirty="0" err="1" smtClean="0">
                <a:solidFill>
                  <a:srgbClr val="000000"/>
                </a:solidFill>
                <a:latin typeface="Calibri" panose="020F0502020204030204" pitchFamily="34" charset="0"/>
                <a:ea typeface="Times New Roman" panose="02020603050405020304" pitchFamily="18" charset="0"/>
              </a:rPr>
              <a:t>gaoundéré</a:t>
            </a:r>
            <a:r>
              <a:rPr lang="fr-FR" sz="1200" kern="100" dirty="0" smtClean="0">
                <a:solidFill>
                  <a:srgbClr val="000000"/>
                </a:solidFill>
                <a:latin typeface="Calibri" panose="020F0502020204030204" pitchFamily="34" charset="0"/>
                <a:ea typeface="Times New Roman" panose="02020603050405020304" pitchFamily="18" charset="0"/>
              </a:rPr>
              <a:t>-Cameroun</a:t>
            </a:r>
          </a:p>
          <a:p>
            <a:pPr marL="184150" indent="-171450" algn="l">
              <a:lnSpc>
                <a:spcPct val="125000"/>
              </a:lnSpc>
              <a:spcBef>
                <a:spcPts val="600"/>
              </a:spcBef>
              <a:buFont typeface="Courier New" panose="02070309020205020404" pitchFamily="49" charset="0"/>
              <a:buChar char="o"/>
            </a:pPr>
            <a:r>
              <a:rPr lang="fr-FR" sz="1200" b="1" kern="100" dirty="0" smtClean="0">
                <a:solidFill>
                  <a:srgbClr val="000000"/>
                </a:solidFill>
                <a:latin typeface="Calibri" panose="020F0502020204030204" pitchFamily="34" charset="0"/>
                <a:ea typeface="Times New Roman" panose="02020603050405020304" pitchFamily="18" charset="0"/>
              </a:rPr>
              <a:t>2014 - 2015 I BACCALAUREAT SRIE A4</a:t>
            </a:r>
          </a:p>
          <a:p>
            <a:pPr marL="12700" algn="l">
              <a:lnSpc>
                <a:spcPct val="125000"/>
              </a:lnSpc>
              <a:spcBef>
                <a:spcPts val="600"/>
              </a:spcBef>
            </a:pPr>
            <a:r>
              <a:rPr lang="fr-FR" sz="1200" kern="100" dirty="0" smtClean="0">
                <a:solidFill>
                  <a:srgbClr val="000000"/>
                </a:solidFill>
                <a:latin typeface="Calibri" panose="020F0502020204030204" pitchFamily="34" charset="0"/>
                <a:ea typeface="Times New Roman" panose="02020603050405020304" pitchFamily="18" charset="0"/>
              </a:rPr>
              <a:t>    Lycée de </a:t>
            </a:r>
            <a:r>
              <a:rPr lang="fr-FR" sz="1200" kern="100" dirty="0" err="1" smtClean="0">
                <a:solidFill>
                  <a:srgbClr val="000000"/>
                </a:solidFill>
                <a:latin typeface="Calibri" panose="020F0502020204030204" pitchFamily="34" charset="0"/>
                <a:ea typeface="Times New Roman" panose="02020603050405020304" pitchFamily="18" charset="0"/>
              </a:rPr>
              <a:t>walia</a:t>
            </a:r>
            <a:r>
              <a:rPr lang="fr-FR" sz="1200" kern="100" dirty="0" smtClean="0">
                <a:solidFill>
                  <a:srgbClr val="000000"/>
                </a:solidFill>
                <a:latin typeface="Calibri" panose="020F0502020204030204" pitchFamily="34" charset="0"/>
                <a:ea typeface="Times New Roman" panose="02020603050405020304" pitchFamily="18" charset="0"/>
              </a:rPr>
              <a:t>/N’</a:t>
            </a:r>
            <a:r>
              <a:rPr lang="fr-FR" sz="1200" kern="100" dirty="0" err="1" smtClean="0">
                <a:solidFill>
                  <a:srgbClr val="000000"/>
                </a:solidFill>
                <a:latin typeface="Calibri" panose="020F0502020204030204" pitchFamily="34" charset="0"/>
                <a:ea typeface="Times New Roman" panose="02020603050405020304" pitchFamily="18" charset="0"/>
              </a:rPr>
              <a:t>djaména</a:t>
            </a:r>
            <a:endParaRPr lang="fr-FR" sz="1200" kern="100" dirty="0" smtClean="0">
              <a:solidFill>
                <a:srgbClr val="000000"/>
              </a:solidFill>
              <a:latin typeface="Calibri" panose="020F0502020204030204" pitchFamily="34" charset="0"/>
              <a:ea typeface="Times New Roman" panose="02020603050405020304" pitchFamily="18" charset="0"/>
            </a:endParaRPr>
          </a:p>
        </p:txBody>
      </p:sp>
      <p:sp>
        <p:nvSpPr>
          <p:cNvPr id="1048596" name="object 6"/>
          <p:cNvSpPr txBox="1"/>
          <p:nvPr/>
        </p:nvSpPr>
        <p:spPr>
          <a:xfrm>
            <a:off x="157479" y="6188075"/>
            <a:ext cx="3163571" cy="4099840"/>
          </a:xfrm>
          <a:prstGeom prst="rect">
            <a:avLst/>
          </a:prstGeom>
          <a:solidFill>
            <a:srgbClr val="F5F6FF"/>
          </a:solidFill>
        </p:spPr>
        <p:txBody>
          <a:bodyPr vert="horz" wrap="square" lIns="0" tIns="143510" rIns="0" bIns="0" rtlCol="0">
            <a:spAutoFit/>
          </a:bodyPr>
          <a:lstStyle/>
          <a:p>
            <a:pPr marL="221615">
              <a:lnSpc>
                <a:spcPct val="100000"/>
              </a:lnSpc>
              <a:spcBef>
                <a:spcPts val="1130"/>
              </a:spcBef>
            </a:pPr>
            <a:r>
              <a:rPr sz="1500" b="1" spc="85" dirty="0">
                <a:solidFill>
                  <a:srgbClr val="07113C"/>
                </a:solidFill>
                <a:latin typeface="Century Gothic"/>
                <a:cs typeface="Century Gothic"/>
              </a:rPr>
              <a:t>COMPÉTENCES</a:t>
            </a:r>
            <a:endParaRPr sz="1500" dirty="0">
              <a:latin typeface="Century Gothic"/>
              <a:cs typeface="Century Gothic"/>
            </a:endParaRPr>
          </a:p>
          <a:p>
            <a:pPr marL="171450" indent="-171450" algn="just">
              <a:lnSpc>
                <a:spcPct val="115000"/>
              </a:lnSpc>
              <a:spcBef>
                <a:spcPts val="545"/>
              </a:spcBef>
              <a:buFont typeface="Wingdings" panose="05000000000000000000" pitchFamily="2" charset="2"/>
              <a:buChar char="v"/>
            </a:pPr>
            <a:r>
              <a:rPr lang="fr-FR" sz="1200" kern="100" dirty="0" smtClean="0">
                <a:solidFill>
                  <a:srgbClr val="000000"/>
                </a:solidFill>
                <a:latin typeface="Calibri" panose="020F0502020204030204" pitchFamily="34" charset="0"/>
                <a:ea typeface="Times New Roman" panose="02020603050405020304" pitchFamily="18" charset="0"/>
                <a:cs typeface="+mn-cs"/>
              </a:rPr>
              <a:t>EXPERTISE</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Maîtrise des techniques bancaires et commerciales : </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Bonne connaissance en Analyse financière et gestion des risques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Bonne connaissance des outils informatiques et systèmes bancaires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Connaissance des réglementations bancaires et financières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Leadership </a:t>
            </a:r>
            <a:r>
              <a:rPr lang="fr-FR" sz="1200" kern="100" dirty="0">
                <a:solidFill>
                  <a:srgbClr val="000000"/>
                </a:solidFill>
                <a:latin typeface="Calibri" panose="020F0502020204030204" pitchFamily="34" charset="0"/>
                <a:ea typeface="Times New Roman" panose="02020603050405020304" pitchFamily="18" charset="0"/>
                <a:cs typeface="+mn-cs"/>
              </a:rPr>
              <a:t>et gestion d'équipe</a:t>
            </a:r>
          </a:p>
          <a:p>
            <a:pPr marL="171450" indent="-171450" algn="just">
              <a:lnSpc>
                <a:spcPct val="115000"/>
              </a:lnSpc>
              <a:spcBef>
                <a:spcPts val="29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Forte capacité de communication et relationnel client </a:t>
            </a:r>
          </a:p>
          <a:p>
            <a:pPr marL="171450" indent="-171450" algn="just">
              <a:lnSpc>
                <a:spcPct val="115000"/>
              </a:lnSpc>
              <a:spcBef>
                <a:spcPts val="29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Autonomie et sens des responsabilités </a:t>
            </a:r>
          </a:p>
          <a:p>
            <a:pPr marL="171450" indent="-171450" algn="just">
              <a:lnSpc>
                <a:spcPct val="115000"/>
              </a:lnSpc>
              <a:spcBef>
                <a:spcPts val="29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Rigueur et organisation </a:t>
            </a:r>
          </a:p>
          <a:p>
            <a:pPr marL="171450" indent="-171450" algn="just">
              <a:lnSpc>
                <a:spcPct val="115000"/>
              </a:lnSpc>
              <a:spcBef>
                <a:spcPts val="290"/>
              </a:spcBef>
              <a:buFont typeface="Arial" panose="020B0604020202020204" pitchFamily="34" charset="0"/>
              <a:buChar char="•"/>
            </a:pPr>
            <a:endParaRPr lang="fr-FR" sz="1200" kern="100" dirty="0" smtClean="0">
              <a:solidFill>
                <a:srgbClr val="000000"/>
              </a:solidFill>
              <a:latin typeface="Calibri" panose="020F0502020204030204" pitchFamily="34" charset="0"/>
              <a:ea typeface="Times New Roman" panose="02020603050405020304" pitchFamily="18" charset="0"/>
              <a:cs typeface="+mn-cs"/>
            </a:endParaRPr>
          </a:p>
        </p:txBody>
      </p:sp>
      <p:sp>
        <p:nvSpPr>
          <p:cNvPr id="1048597" name="ZoneTexte 2"/>
          <p:cNvSpPr txBox="1"/>
          <p:nvPr/>
        </p:nvSpPr>
        <p:spPr>
          <a:xfrm>
            <a:off x="-1250950" y="2008743"/>
            <a:ext cx="184731" cy="369332"/>
          </a:xfrm>
          <a:prstGeom prst="rect">
            <a:avLst/>
          </a:prstGeom>
          <a:noFill/>
        </p:spPr>
        <p:txBody>
          <a:bodyPr wrap="none" rtlCol="0">
            <a:spAutoFit/>
          </a:bodyPr>
          <a:lstStyle/>
          <a:p>
            <a:endParaRPr lang="fr-FR" dirty="0"/>
          </a:p>
        </p:txBody>
      </p:sp>
      <p:sp>
        <p:nvSpPr>
          <p:cNvPr id="1048598" name="Rectangle 134"/>
          <p:cNvSpPr/>
          <p:nvPr/>
        </p:nvSpPr>
        <p:spPr>
          <a:xfrm>
            <a:off x="3397250" y="3579122"/>
            <a:ext cx="3887465" cy="495841"/>
          </a:xfrm>
          <a:prstGeom prst="rect">
            <a:avLst/>
          </a:prstGeom>
        </p:spPr>
        <p:txBody>
          <a:bodyPr wrap="square">
            <a:spAutoFit/>
          </a:bodyPr>
          <a:lstStyle/>
          <a:p>
            <a:pPr algn="just">
              <a:lnSpc>
                <a:spcPct val="114000"/>
              </a:lnSpc>
            </a:pPr>
            <a:r>
              <a:rPr lang="fr-FR" sz="1200" dirty="0" smtClean="0"/>
              <a:t> </a:t>
            </a:r>
          </a:p>
          <a:p>
            <a:pPr algn="just">
              <a:lnSpc>
                <a:spcPct val="114000"/>
              </a:lnSpc>
            </a:pPr>
            <a:endParaRPr lang="fr-FR" sz="1200" dirty="0"/>
          </a:p>
        </p:txBody>
      </p:sp>
      <p:pic>
        <p:nvPicPr>
          <p:cNvPr id="2097158" name="Image 4"/>
          <p:cNvPicPr>
            <a:picLocks noChangeAspect="1"/>
          </p:cNvPicPr>
          <p:nvPr/>
        </p:nvPicPr>
        <p:blipFill rotWithShape="1">
          <a:blip r:embed="rId3" cstate="print"/>
          <a:srcRect l="-1683" t="14057" r="1"/>
          <a:stretch>
            <a:fillRect/>
          </a:stretch>
        </p:blipFill>
        <p:spPr>
          <a:xfrm>
            <a:off x="196850" y="320674"/>
            <a:ext cx="1676400" cy="2057401"/>
          </a:xfrm>
          <a:prstGeom prst="roundRect">
            <a:avLst/>
          </a:prstGeom>
        </p:spPr>
      </p:pic>
      <p:sp>
        <p:nvSpPr>
          <p:cNvPr id="1048599" name="Rectangle 5"/>
          <p:cNvSpPr/>
          <p:nvPr/>
        </p:nvSpPr>
        <p:spPr>
          <a:xfrm>
            <a:off x="1949450" y="1105377"/>
            <a:ext cx="5562600" cy="1255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1200" b="0" i="0" u="none" strike="noStrike" baseline="0" dirty="0" smtClean="0">
                <a:solidFill>
                  <a:srgbClr val="000000"/>
                </a:solidFill>
                <a:latin typeface="Times New Roman" panose="02020603050405020304" pitchFamily="18" charset="0"/>
              </a:rPr>
              <a:t>Jeune Diplômé d’un Master en Comptabilité et Finance, doté d’une excellente compréhension des principes d’analyse financières et de la règlementation bancaire. Passionné par les métiers de la finance, je réalise dans le cadre de mes tâches professionnelles : (i) analyste des dossiers de financement afin d’identifier les risques liés et formuler des recommandations motivées (ii), l’administration des engagements (iii), le suivi et surveillance des engagements. </a:t>
            </a:r>
            <a:endParaRPr lang="zh-CN" altLang="en-US" sz="1200" dirty="0"/>
          </a:p>
        </p:txBody>
      </p:sp>
      <p:sp>
        <p:nvSpPr>
          <p:cNvPr id="1048600" name="Rectangle 6"/>
          <p:cNvSpPr/>
          <p:nvPr/>
        </p:nvSpPr>
        <p:spPr>
          <a:xfrm>
            <a:off x="882650" y="2544487"/>
            <a:ext cx="2332138"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48601" name="Rectangle 130"/>
          <p:cNvSpPr/>
          <p:nvPr/>
        </p:nvSpPr>
        <p:spPr>
          <a:xfrm>
            <a:off x="885552" y="2583912"/>
            <a:ext cx="1950343" cy="376428"/>
          </a:xfrm>
          <a:prstGeom prst="rect">
            <a:avLst/>
          </a:prstGeom>
        </p:spPr>
        <p:txBody>
          <a:bodyPr wrap="non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14000"/>
              </a:lnSpc>
            </a:pPr>
            <a:r>
              <a:rPr lang="en-US" sz="1100" dirty="0" smtClean="0">
                <a:latin typeface="+mj-lt"/>
                <a:ea typeface="Open Sans" panose="020B0606030504020204" pitchFamily="34" charset="0"/>
                <a:cs typeface="Open Sans" panose="020B0606030504020204" pitchFamily="34" charset="0"/>
                <a:hlinkClick r:id="rId4"/>
              </a:rPr>
              <a:t>Djimranguefransix@gmail.com</a:t>
            </a:r>
            <a:endParaRPr lang="en-US" sz="1100" dirty="0">
              <a:latin typeface="+mj-lt"/>
              <a:ea typeface="Open Sans" panose="020B0606030504020204" pitchFamily="34" charset="0"/>
              <a:cs typeface="Open Sans" panose="020B0606030504020204" pitchFamily="34" charset="0"/>
            </a:endParaRPr>
          </a:p>
          <a:p>
            <a:pPr>
              <a:lnSpc>
                <a:spcPct val="114000"/>
              </a:lnSpc>
            </a:pPr>
            <a:endParaRPr lang="fr-FR" sz="1100" dirty="0">
              <a:latin typeface="+mj-lt"/>
              <a:ea typeface="Open Sans" panose="020B0606030504020204" pitchFamily="34" charset="0"/>
              <a:cs typeface="Open Sans" panose="020B0606030504020204" pitchFamily="34" charset="0"/>
            </a:endParaRPr>
          </a:p>
        </p:txBody>
      </p:sp>
      <p:sp>
        <p:nvSpPr>
          <p:cNvPr id="1048602" name="Rectangle 129"/>
          <p:cNvSpPr/>
          <p:nvPr/>
        </p:nvSpPr>
        <p:spPr>
          <a:xfrm>
            <a:off x="3558893" y="2567586"/>
            <a:ext cx="1219200" cy="202692"/>
          </a:xfrm>
          <a:prstGeom prst="rect">
            <a:avLst/>
          </a:prstGeom>
        </p:spPr>
        <p:txBody>
          <a:bodyPr wrap="non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14000"/>
              </a:lnSpc>
            </a:pPr>
            <a:r>
              <a:rPr lang="en-US" sz="1200" dirty="0" smtClean="0">
                <a:latin typeface="+mj-lt"/>
                <a:ea typeface="Open Sans" panose="020B0606030504020204" pitchFamily="34" charset="0"/>
                <a:cs typeface="Open Sans" panose="020B0606030504020204" pitchFamily="34" charset="0"/>
              </a:rPr>
              <a:t>+235 69 </a:t>
            </a:r>
            <a:r>
              <a:rPr lang="en-US" sz="1200" dirty="0">
                <a:latin typeface="+mj-lt"/>
                <a:ea typeface="Open Sans" panose="020B0606030504020204" pitchFamily="34" charset="0"/>
                <a:cs typeface="Open Sans" panose="020B0606030504020204" pitchFamily="34" charset="0"/>
              </a:rPr>
              <a:t>01 79 </a:t>
            </a:r>
            <a:r>
              <a:rPr lang="en-US" sz="1200" dirty="0" smtClean="0">
                <a:latin typeface="+mj-lt"/>
                <a:ea typeface="Open Sans" panose="020B0606030504020204" pitchFamily="34" charset="0"/>
                <a:cs typeface="Open Sans" panose="020B0606030504020204" pitchFamily="34" charset="0"/>
              </a:rPr>
              <a:t>70</a:t>
            </a:r>
            <a:endParaRPr lang="zh-CN" altLang="en-US" sz="1200" dirty="0"/>
          </a:p>
        </p:txBody>
      </p:sp>
      <p:sp>
        <p:nvSpPr>
          <p:cNvPr id="1048603" name="Rectangle 128"/>
          <p:cNvSpPr/>
          <p:nvPr/>
        </p:nvSpPr>
        <p:spPr>
          <a:xfrm>
            <a:off x="5607050" y="2554789"/>
            <a:ext cx="1232795" cy="202693"/>
          </a:xfrm>
          <a:prstGeom prst="rect">
            <a:avLst/>
          </a:prstGeom>
        </p:spPr>
        <p:txBody>
          <a:bodyPr wrap="non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14000"/>
              </a:lnSpc>
              <a:spcAft>
                <a:spcPts val="761"/>
              </a:spcAft>
            </a:pPr>
            <a:r>
              <a:rPr lang="fr-MA" sz="1265" dirty="0">
                <a:latin typeface="+mj-lt"/>
                <a:ea typeface="Open Sans" panose="020B0606030504020204" pitchFamily="34" charset="0"/>
                <a:cs typeface="Open Sans" panose="020B0606030504020204" pitchFamily="34" charset="0"/>
              </a:rPr>
              <a:t>N’</a:t>
            </a:r>
            <a:r>
              <a:rPr lang="fr-MA" sz="1265" dirty="0" err="1">
                <a:latin typeface="+mj-lt"/>
                <a:ea typeface="Open Sans" panose="020B0606030504020204" pitchFamily="34" charset="0"/>
                <a:cs typeface="Open Sans" panose="020B0606030504020204" pitchFamily="34" charset="0"/>
              </a:rPr>
              <a:t>djamena</a:t>
            </a:r>
            <a:r>
              <a:rPr lang="fr-MA" sz="1265" dirty="0">
                <a:latin typeface="+mj-lt"/>
                <a:ea typeface="Open Sans" panose="020B0606030504020204" pitchFamily="34" charset="0"/>
                <a:cs typeface="Open Sans" panose="020B0606030504020204" pitchFamily="34" charset="0"/>
              </a:rPr>
              <a:t>/Tchad</a:t>
            </a:r>
            <a:endParaRPr lang="fr-FR" sz="1265" dirty="0">
              <a:latin typeface="+mj-lt"/>
              <a:ea typeface="Open Sans" panose="020B0606030504020204" pitchFamily="34" charset="0"/>
              <a:cs typeface="Open Sans" panose="020B0606030504020204" pitchFamily="34" charset="0"/>
            </a:endParaRPr>
          </a:p>
        </p:txBody>
      </p:sp>
      <p:sp>
        <p:nvSpPr>
          <p:cNvPr id="1048604" name="Rectangle 8"/>
          <p:cNvSpPr/>
          <p:nvPr/>
        </p:nvSpPr>
        <p:spPr>
          <a:xfrm>
            <a:off x="3372987" y="3439033"/>
            <a:ext cx="4062863" cy="7430111"/>
          </a:xfrm>
          <a:prstGeom prst="rect">
            <a:avLst/>
          </a:prstGeom>
        </p:spPr>
        <p:txBody>
          <a:bodyPr wrap="square">
            <a:spAutoFit/>
          </a:bodyPr>
          <a:lstStyle/>
          <a:p>
            <a:pPr marL="6350" indent="-6350" algn="just">
              <a:lnSpc>
                <a:spcPct val="115000"/>
              </a:lnSpc>
              <a:spcAft>
                <a:spcPts val="0"/>
              </a:spcAft>
            </a:pPr>
            <a:r>
              <a:rPr lang="fr-FR" sz="1200" b="1" dirty="0" smtClean="0">
                <a:solidFill>
                  <a:srgbClr val="000000"/>
                </a:solidFill>
                <a:latin typeface="Calibri" panose="020F0502020204030204" pitchFamily="34" charset="0"/>
                <a:ea typeface="Times New Roman" panose="02020603050405020304" pitchFamily="18" charset="0"/>
              </a:rPr>
              <a:t>15 Aout au 14 Octobre 2025: </a:t>
            </a:r>
            <a:r>
              <a:rPr lang="fr-FR" altLang="fr-FR" sz="1200" b="1" dirty="0" smtClean="0">
                <a:solidFill>
                  <a:srgbClr val="000000"/>
                </a:solidFill>
                <a:latin typeface="Calibri" panose="020F0502020204030204" pitchFamily="34" charset="0"/>
                <a:ea typeface="Times New Roman" panose="02020603050405020304" pitchFamily="18" charset="0"/>
              </a:rPr>
              <a:t>Stagiaire </a:t>
            </a:r>
            <a:r>
              <a:rPr lang="fr-FR" sz="1200" b="1" dirty="0" smtClean="0">
                <a:solidFill>
                  <a:srgbClr val="000000"/>
                </a:solidFill>
                <a:latin typeface="Calibri" panose="020F0502020204030204" pitchFamily="34" charset="0"/>
                <a:ea typeface="Times New Roman" panose="02020603050405020304" pitchFamily="18" charset="0"/>
              </a:rPr>
              <a:t>Analyste de crédit </a:t>
            </a:r>
            <a:r>
              <a:rPr lang="fr-FR" sz="1200" b="1" dirty="0" smtClean="0">
                <a:solidFill>
                  <a:srgbClr val="000000"/>
                </a:solidFill>
                <a:latin typeface="Calibri" panose="020F0502020204030204" pitchFamily="34" charset="0"/>
                <a:ea typeface="Times New Roman" panose="02020603050405020304" pitchFamily="18" charset="0"/>
              </a:rPr>
              <a:t> </a:t>
            </a:r>
            <a:r>
              <a:rPr lang="fr-FR" sz="1200" b="1" dirty="0" err="1" smtClean="0">
                <a:solidFill>
                  <a:srgbClr val="000000"/>
                </a:solidFill>
                <a:latin typeface="Calibri" panose="020F0502020204030204" pitchFamily="34" charset="0"/>
                <a:ea typeface="Times New Roman" panose="02020603050405020304" pitchFamily="18" charset="0"/>
              </a:rPr>
              <a:t>Coris</a:t>
            </a:r>
            <a:r>
              <a:rPr lang="fr-FR" sz="1200" b="1" dirty="0" smtClean="0">
                <a:solidFill>
                  <a:srgbClr val="000000"/>
                </a:solidFill>
                <a:latin typeface="Calibri" panose="020F0502020204030204" pitchFamily="34" charset="0"/>
                <a:ea typeface="Times New Roman" panose="02020603050405020304" pitchFamily="18" charset="0"/>
              </a:rPr>
              <a:t> </a:t>
            </a:r>
            <a:r>
              <a:rPr lang="fr-FR" sz="1200" b="1" dirty="0" smtClean="0">
                <a:solidFill>
                  <a:srgbClr val="000000"/>
                </a:solidFill>
                <a:latin typeface="Calibri" panose="020F0502020204030204" pitchFamily="34" charset="0"/>
                <a:ea typeface="Times New Roman" panose="02020603050405020304" pitchFamily="18" charset="0"/>
              </a:rPr>
              <a:t>Bank International/Direction des Engagement</a:t>
            </a:r>
          </a:p>
          <a:p>
            <a:pPr algn="just">
              <a:lnSpc>
                <a:spcPct val="115000"/>
              </a:lnSpc>
              <a:spcAft>
                <a:spcPts val="0"/>
              </a:spcAft>
            </a:pPr>
            <a:r>
              <a:rPr lang="fr-FR" sz="1200" b="1" dirty="0" smtClean="0">
                <a:solidFill>
                  <a:srgbClr val="000000"/>
                </a:solidFill>
                <a:latin typeface="Calibri" panose="020F0502020204030204" pitchFamily="34" charset="0"/>
                <a:ea typeface="Times New Roman" panose="02020603050405020304" pitchFamily="18" charset="0"/>
              </a:rPr>
              <a:t>Tâches:</a:t>
            </a:r>
          </a:p>
          <a:p>
            <a:pPr marL="171450" indent="-171450" algn="just">
              <a:lnSpc>
                <a:spcPct val="115000"/>
              </a:lnSpc>
              <a:buFont typeface="Arial" panose="020B0604020202020204" pitchFamily="34" charset="0"/>
              <a:buChar char="•"/>
            </a:pPr>
            <a:r>
              <a:rPr lang="fr-FR" sz="1200" b="1" dirty="0" smtClean="0">
                <a:solidFill>
                  <a:srgbClr val="000000"/>
                </a:solidFill>
                <a:latin typeface="Calibri" panose="020F0502020204030204" pitchFamily="34" charset="0"/>
                <a:ea typeface="Times New Roman" panose="02020603050405020304" pitchFamily="18" charset="0"/>
              </a:rPr>
              <a:t> </a:t>
            </a:r>
            <a:r>
              <a:rPr lang="fr-FR" altLang="fr-FR" sz="1200" b="0" kern="100" dirty="0" smtClean="0">
                <a:solidFill>
                  <a:srgbClr val="000000"/>
                </a:solidFill>
                <a:latin typeface="Calibri" panose="020F0502020204030204" pitchFamily="34" charset="0"/>
                <a:ea typeface="Times New Roman" panose="02020603050405020304" pitchFamily="18" charset="0"/>
                <a:cs typeface="+mn-cs"/>
              </a:rPr>
              <a:t>Contrôlé</a:t>
            </a:r>
            <a:r>
              <a:rPr lang="fr-FR" altLang="fr-FR" sz="1200" b="1" kern="100" dirty="0" smtClean="0">
                <a:solidFill>
                  <a:srgbClr val="000000"/>
                </a:solidFill>
                <a:latin typeface="Calibri" panose="020F0502020204030204" pitchFamily="34" charset="0"/>
                <a:ea typeface="Times New Roman" panose="02020603050405020304" pitchFamily="18" charset="0"/>
                <a:cs typeface="+mn-cs"/>
              </a:rPr>
              <a:t> </a:t>
            </a:r>
            <a:r>
              <a:rPr lang="fr-FR" altLang="fr-FR" sz="1200" b="0" kern="100" dirty="0" smtClean="0">
                <a:solidFill>
                  <a:srgbClr val="000000"/>
                </a:solidFill>
                <a:latin typeface="Calibri" panose="020F0502020204030204" pitchFamily="34" charset="0"/>
                <a:ea typeface="Times New Roman" panose="02020603050405020304" pitchFamily="18" charset="0"/>
                <a:cs typeface="+mn-cs"/>
              </a:rPr>
              <a:t>la</a:t>
            </a: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smtClean="0">
                <a:solidFill>
                  <a:srgbClr val="000000"/>
                </a:solidFill>
                <a:latin typeface="Calibri" panose="020F0502020204030204" pitchFamily="34" charset="0"/>
                <a:ea typeface="Times New Roman" panose="02020603050405020304" pitchFamily="18" charset="0"/>
                <a:cs typeface="+mn-cs"/>
              </a:rPr>
              <a:t>conformité </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des </a:t>
            </a:r>
            <a:r>
              <a:rPr lang="fr-FR" sz="1200" kern="100" dirty="0" smtClean="0">
                <a:solidFill>
                  <a:srgbClr val="000000"/>
                </a:solidFill>
                <a:latin typeface="Calibri" panose="020F0502020204030204" pitchFamily="34" charset="0"/>
                <a:ea typeface="Times New Roman" panose="02020603050405020304" pitchFamily="18" charset="0"/>
                <a:cs typeface="+mn-cs"/>
              </a:rPr>
              <a:t>pièces constitutives des dossiers de crédit scolaire (attestations, bulletins de paie, garanties).</a:t>
            </a:r>
            <a:endParaRPr lang="fr-FR" altLang="zh-CN" dirty="0" smtClean="0"/>
          </a:p>
          <a:p>
            <a:pPr marL="171450" indent="-171450" algn="just">
              <a:lnSpc>
                <a:spcPct val="115000"/>
              </a:lnSpc>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Analysé</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 l</a:t>
            </a:r>
            <a:r>
              <a:rPr lang="fr-FR" sz="1200" kern="100" dirty="0" smtClean="0">
                <a:solidFill>
                  <a:srgbClr val="000000"/>
                </a:solidFill>
                <a:latin typeface="Calibri" panose="020F0502020204030204" pitchFamily="34" charset="0"/>
                <a:ea typeface="Times New Roman" panose="02020603050405020304" pitchFamily="18" charset="0"/>
                <a:cs typeface="+mn-cs"/>
              </a:rPr>
              <a:t>a capacité de remboursement par le calcul des ratios d’endettement et l'étude de la quotité cessible.</a:t>
            </a:r>
            <a:endParaRPr lang="fr-FR" altLang="zh-CN" dirty="0" smtClean="0"/>
          </a:p>
          <a:p>
            <a:pPr marL="171450" indent="-171450" algn="just">
              <a:lnSpc>
                <a:spcPct val="115000"/>
              </a:lnSpc>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Vérif</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ié</a:t>
            </a:r>
            <a:r>
              <a:rPr lang="fr-FR" sz="1200" kern="100" dirty="0" smtClean="0">
                <a:solidFill>
                  <a:srgbClr val="000000"/>
                </a:solidFill>
                <a:latin typeface="Calibri" panose="020F0502020204030204" pitchFamily="34" charset="0"/>
                <a:ea typeface="Times New Roman" panose="02020603050405020304" pitchFamily="18" charset="0"/>
                <a:cs typeface="+mn-cs"/>
              </a:rPr>
              <a:t> l'authenticité des documents fournis auprès des employeurs </a:t>
            </a:r>
            <a:endParaRPr lang="fr-FR" sz="1200" kern="100" dirty="0">
              <a:solidFill>
                <a:srgbClr val="000000"/>
              </a:solidFill>
              <a:latin typeface="Calibri" panose="020F0502020204030204" pitchFamily="34" charset="0"/>
              <a:ea typeface="Times New Roman" panose="02020603050405020304" pitchFamily="18" charset="0"/>
              <a:cs typeface="+mn-cs"/>
            </a:endParaRPr>
          </a:p>
          <a:p>
            <a:pPr marL="171450" indent="-171450" algn="just">
              <a:lnSpc>
                <a:spcPct val="115000"/>
              </a:lnSpc>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Évalué </a:t>
            </a:r>
            <a:r>
              <a:rPr lang="fr-FR" sz="1200" kern="100" dirty="0" smtClean="0">
                <a:solidFill>
                  <a:srgbClr val="000000"/>
                </a:solidFill>
                <a:latin typeface="Calibri" panose="020F0502020204030204" pitchFamily="34" charset="0"/>
                <a:ea typeface="Times New Roman" panose="02020603050405020304" pitchFamily="18" charset="0"/>
                <a:cs typeface="+mn-cs"/>
              </a:rPr>
              <a:t>et formali</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ser</a:t>
            </a:r>
            <a:r>
              <a:rPr lang="fr-FR" sz="1200" kern="100" dirty="0" smtClean="0">
                <a:solidFill>
                  <a:srgbClr val="000000"/>
                </a:solidFill>
                <a:latin typeface="Calibri" panose="020F0502020204030204" pitchFamily="34" charset="0"/>
                <a:ea typeface="Times New Roman" panose="02020603050405020304" pitchFamily="18" charset="0"/>
                <a:cs typeface="+mn-cs"/>
              </a:rPr>
              <a:t> des garanties (domiciliation de salaire, cautionnement) </a:t>
            </a:r>
            <a:endParaRPr lang="fr-FR" altLang="zh-CN" dirty="0" smtClean="0"/>
          </a:p>
          <a:p>
            <a:pPr marL="171450" indent="-171450" algn="just">
              <a:lnSpc>
                <a:spcPct val="115000"/>
              </a:lnSpc>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Suivi administratif du circuit de signature et de validation interne des dossiers de crédit.</a:t>
            </a:r>
          </a:p>
          <a:p>
            <a:pPr marL="171450" indent="-171450" algn="just">
              <a:lnSpc>
                <a:spcPct val="115000"/>
              </a:lnSpc>
              <a:spcAft>
                <a:spcPts val="600"/>
              </a:spcAft>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Mis à jour quotidienne</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ment</a:t>
            </a: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le</a:t>
            </a:r>
            <a:r>
              <a:rPr lang="fr-FR" sz="1200" kern="100" dirty="0" smtClean="0">
                <a:solidFill>
                  <a:srgbClr val="000000"/>
                </a:solidFill>
                <a:latin typeface="Calibri" panose="020F0502020204030204" pitchFamily="34" charset="0"/>
                <a:ea typeface="Times New Roman" panose="02020603050405020304" pitchFamily="18" charset="0"/>
                <a:cs typeface="+mn-cs"/>
              </a:rPr>
              <a:t> tableau de bord de suivi des dossiers (en attente, validés, rejetés).</a:t>
            </a:r>
            <a:endParaRPr lang="fr-FR" sz="1200" dirty="0" smtClean="0">
              <a:solidFill>
                <a:srgbClr val="000000"/>
              </a:solidFill>
              <a:latin typeface="Calibri" panose="020F0502020204030204" pitchFamily="34" charset="0"/>
              <a:ea typeface="Times New Roman" panose="02020603050405020304" pitchFamily="18" charset="0"/>
            </a:endParaRPr>
          </a:p>
          <a:p>
            <a:pPr marL="6350" indent="-6350" algn="just">
              <a:lnSpc>
                <a:spcPct val="115000"/>
              </a:lnSpc>
              <a:spcAft>
                <a:spcPts val="0"/>
              </a:spcAft>
            </a:pPr>
            <a:r>
              <a:rPr lang="fr-FR" sz="1200" b="1" kern="0" dirty="0" smtClean="0">
                <a:solidFill>
                  <a:srgbClr val="000000"/>
                </a:solidFill>
                <a:effectLst/>
                <a:latin typeface="Calibri" panose="020F0502020204030204" pitchFamily="34" charset="0"/>
                <a:ea typeface="Times New Roman" panose="02020603050405020304" pitchFamily="18" charset="0"/>
              </a:rPr>
              <a:t>03 Avril 2025 à 02 Août 2025: stagiaire </a:t>
            </a:r>
            <a:r>
              <a:rPr lang="fr-FR" sz="1200" b="1" dirty="0" smtClean="0">
                <a:solidFill>
                  <a:srgbClr val="000000"/>
                </a:solidFill>
                <a:latin typeface="Calibri" panose="020F0502020204030204" pitchFamily="34" charset="0"/>
                <a:ea typeface="Times New Roman" panose="02020603050405020304" pitchFamily="18" charset="0"/>
              </a:rPr>
              <a:t>Analyste de crédit</a:t>
            </a:r>
            <a:endParaRPr lang="fr-FR" sz="1200" b="1" kern="0" dirty="0" smtClean="0">
              <a:solidFill>
                <a:srgbClr val="000000"/>
              </a:solidFill>
              <a:effectLst/>
              <a:latin typeface="Calibri" panose="020F0502020204030204" pitchFamily="34" charset="0"/>
              <a:ea typeface="Times New Roman" panose="02020603050405020304" pitchFamily="18" charset="0"/>
            </a:endParaRPr>
          </a:p>
          <a:p>
            <a:pPr marL="6350" indent="-6350" algn="just">
              <a:lnSpc>
                <a:spcPct val="115000"/>
              </a:lnSpc>
              <a:spcAft>
                <a:spcPts val="0"/>
              </a:spcAft>
            </a:pPr>
            <a:r>
              <a:rPr lang="fr-FR" sz="1200" b="1" kern="0" dirty="0" err="1" smtClean="0">
                <a:solidFill>
                  <a:srgbClr val="000000"/>
                </a:solidFill>
                <a:effectLst/>
                <a:latin typeface="Calibri" panose="020F0502020204030204" pitchFamily="34" charset="0"/>
                <a:ea typeface="Times New Roman" panose="02020603050405020304" pitchFamily="18" charset="0"/>
              </a:rPr>
              <a:t>Coris</a:t>
            </a:r>
            <a:r>
              <a:rPr lang="fr-FR" sz="1200" b="1" kern="0" dirty="0" smtClean="0">
                <a:solidFill>
                  <a:srgbClr val="000000"/>
                </a:solidFill>
                <a:effectLst/>
                <a:latin typeface="Calibri" panose="020F0502020204030204" pitchFamily="34" charset="0"/>
                <a:ea typeface="Times New Roman" panose="02020603050405020304" pitchFamily="18" charset="0"/>
              </a:rPr>
              <a:t> Bank International Tchad/ Direction des Engagements</a:t>
            </a:r>
            <a:endParaRPr lang="fr-FR" sz="1200" b="1" kern="100" dirty="0" smtClean="0">
              <a:solidFill>
                <a:srgbClr val="000000"/>
              </a:solidFill>
              <a:effectLst/>
              <a:latin typeface="Times New Roman" panose="02020603050405020304" pitchFamily="18" charset="0"/>
              <a:ea typeface="Times New Roman" panose="02020603050405020304" pitchFamily="18" charset="0"/>
            </a:endParaRPr>
          </a:p>
          <a:p>
            <a:pPr marL="6350" indent="-6350" algn="just">
              <a:lnSpc>
                <a:spcPct val="115000"/>
              </a:lnSpc>
              <a:spcAft>
                <a:spcPts val="0"/>
              </a:spcAft>
            </a:pPr>
            <a:r>
              <a:rPr lang="fr-FR" sz="1200" b="1" kern="0" dirty="0" smtClean="0">
                <a:solidFill>
                  <a:srgbClr val="000000"/>
                </a:solidFill>
                <a:effectLst/>
                <a:latin typeface="Calibri" panose="020F0502020204030204" pitchFamily="34" charset="0"/>
                <a:ea typeface="Times New Roman" panose="02020603050405020304" pitchFamily="18" charset="0"/>
              </a:rPr>
              <a:t>Tâches :</a:t>
            </a:r>
            <a:endParaRPr lang="fr-FR" sz="1200" b="1" kern="100" dirty="0" smtClean="0">
              <a:solidFill>
                <a:srgbClr val="000000"/>
              </a:solidFill>
              <a:effectLst/>
              <a:latin typeface="Times New Roman" panose="02020603050405020304" pitchFamily="18" charset="0"/>
              <a:ea typeface="Times New Roman" panose="02020603050405020304" pitchFamily="18" charset="0"/>
            </a:endParaRPr>
          </a:p>
          <a:p>
            <a:pPr marL="171450" lvl="0" indent="-171450" algn="just">
              <a:lnSpc>
                <a:spcPct val="115000"/>
              </a:lnSpc>
              <a:spcAft>
                <a:spcPts val="0"/>
              </a:spcAft>
              <a:buSzPct val="100000"/>
              <a:buFont typeface="Arial" panose="020B0604020202020204" pitchFamily="34" charset="0"/>
              <a:buChar char="•"/>
            </a:pPr>
            <a:r>
              <a:rPr lang="fr-FR" altLang="fr-FR" sz="1200" kern="0" dirty="0" smtClean="0">
                <a:solidFill>
                  <a:srgbClr val="000000"/>
                </a:solidFill>
                <a:effectLst/>
                <a:latin typeface="Calibri" panose="020F0502020204030204" pitchFamily="34" charset="0"/>
                <a:ea typeface="Times New Roman" panose="02020603050405020304" pitchFamily="18" charset="0"/>
              </a:rPr>
              <a:t> S’assuré que les demandes de crédit sont accompagnés des documents contenants les données nécessaires à  la prise de décision ainsi qu’aux fiches appropriés de présentation; </a:t>
            </a:r>
          </a:p>
          <a:p>
            <a:pPr marL="171450" lvl="0" indent="-171450" algn="just">
              <a:lnSpc>
                <a:spcPct val="115000"/>
              </a:lnSpc>
              <a:spcAft>
                <a:spcPts val="0"/>
              </a:spcAft>
              <a:buSzPct val="100000"/>
              <a:buFont typeface="Arial" panose="020B0604020202020204" pitchFamily="34" charset="0"/>
              <a:buChar char="•"/>
            </a:pPr>
            <a:r>
              <a:rPr lang="fr-FR" altLang="fr-FR" sz="1200" kern="0" dirty="0" smtClean="0">
                <a:solidFill>
                  <a:srgbClr val="000000"/>
                </a:solidFill>
                <a:effectLst/>
                <a:latin typeface="Calibri" panose="020F0502020204030204" pitchFamily="34" charset="0"/>
                <a:ea typeface="Times New Roman" panose="02020603050405020304" pitchFamily="18" charset="0"/>
              </a:rPr>
              <a:t>Identifié les risques inhérents des crédits, à la situation financière du client et ses activités dans le cadre de la demande du crédit; </a:t>
            </a:r>
          </a:p>
          <a:p>
            <a:pPr marL="171450" lvl="0" indent="-171450" algn="just">
              <a:lnSpc>
                <a:spcPct val="115000"/>
              </a:lnSpc>
              <a:spcAft>
                <a:spcPts val="0"/>
              </a:spcAft>
              <a:buSzPct val="100000"/>
              <a:buFont typeface="Arial" panose="020B0604020202020204" pitchFamily="34" charset="0"/>
              <a:buChar char="•"/>
            </a:pPr>
            <a:r>
              <a:rPr lang="fr-FR" altLang="fr-FR" sz="1200" kern="0" dirty="0" smtClean="0">
                <a:solidFill>
                  <a:srgbClr val="000000"/>
                </a:solidFill>
                <a:effectLst/>
                <a:latin typeface="Calibri" panose="020F0502020204030204" pitchFamily="34" charset="0"/>
                <a:ea typeface="Times New Roman" panose="02020603050405020304" pitchFamily="18" charset="0"/>
              </a:rPr>
              <a:t>Conduite d’une analyse et évaluation des demandes de crédit du point de vue de conformité avec la  politique et la procédure du crédit</a:t>
            </a:r>
          </a:p>
          <a:p>
            <a:pPr marL="171450" lvl="0" indent="-171450" algn="just">
              <a:lnSpc>
                <a:spcPct val="115000"/>
              </a:lnSpc>
              <a:spcAft>
                <a:spcPts val="0"/>
              </a:spcAft>
              <a:buSzPct val="100000"/>
              <a:buFont typeface="Arial" panose="020B0604020202020204" pitchFamily="34" charset="0"/>
              <a:buChar char="•"/>
            </a:pPr>
            <a:r>
              <a:rPr lang="fr-FR" sz="1200" kern="0" dirty="0" smtClean="0">
                <a:solidFill>
                  <a:srgbClr val="000000"/>
                </a:solidFill>
                <a:effectLst/>
                <a:latin typeface="Calibri" panose="020F0502020204030204" pitchFamily="34" charset="0"/>
                <a:ea typeface="Times New Roman" panose="02020603050405020304" pitchFamily="18" charset="0"/>
              </a:rPr>
              <a:t>Géré </a:t>
            </a:r>
            <a:r>
              <a:rPr lang="fr-FR" sz="1200" kern="0" dirty="0" smtClean="0">
                <a:solidFill>
                  <a:srgbClr val="000000"/>
                </a:solidFill>
                <a:effectLst/>
                <a:latin typeface="Calibri" panose="020F0502020204030204" pitchFamily="34" charset="0"/>
                <a:ea typeface="Times New Roman" panose="02020603050405020304" pitchFamily="18" charset="0"/>
              </a:rPr>
              <a:t>les situations d’impayées de crédits et faire la restructuration</a:t>
            </a:r>
            <a:endParaRPr lang="fr-FR" sz="1200" kern="100" dirty="0" smtClean="0">
              <a:solidFill>
                <a:srgbClr val="000000"/>
              </a:solidFill>
              <a:effectLst/>
              <a:latin typeface="Times New Roman" panose="02020603050405020304" pitchFamily="18" charset="0"/>
              <a:ea typeface="Times New Roman" panose="02020603050405020304" pitchFamily="18" charset="0"/>
            </a:endParaRPr>
          </a:p>
          <a:p>
            <a:pPr marL="171450" lvl="0" indent="-171450" algn="just">
              <a:lnSpc>
                <a:spcPct val="115000"/>
              </a:lnSpc>
              <a:spcAft>
                <a:spcPts val="0"/>
              </a:spcAft>
              <a:buSzPct val="100000"/>
              <a:buFont typeface="Arial" panose="020B0604020202020204" pitchFamily="34" charset="0"/>
              <a:buChar char="•"/>
            </a:pPr>
            <a:r>
              <a:rPr lang="fr-FR" sz="1200" kern="0" dirty="0" smtClean="0">
                <a:solidFill>
                  <a:srgbClr val="000000"/>
                </a:solidFill>
                <a:effectLst/>
                <a:latin typeface="Calibri" panose="020F0502020204030204" pitchFamily="34" charset="0"/>
                <a:ea typeface="Times New Roman" panose="02020603050405020304" pitchFamily="18" charset="0"/>
              </a:rPr>
              <a:t>Prépar</a:t>
            </a:r>
            <a:r>
              <a:rPr lang="fr-FR" sz="1200" dirty="0">
                <a:solidFill>
                  <a:srgbClr val="000000"/>
                </a:solidFill>
                <a:latin typeface="Calibri" panose="020F0502020204030204" pitchFamily="34" charset="0"/>
                <a:ea typeface="Times New Roman" panose="02020603050405020304" pitchFamily="18" charset="0"/>
              </a:rPr>
              <a:t>é</a:t>
            </a:r>
            <a:r>
              <a:rPr lang="fr-FR" sz="1200" kern="0" dirty="0" smtClean="0">
                <a:solidFill>
                  <a:srgbClr val="000000"/>
                </a:solidFill>
                <a:effectLst/>
                <a:latin typeface="Calibri" panose="020F0502020204030204" pitchFamily="34" charset="0"/>
                <a:ea typeface="Times New Roman" panose="02020603050405020304" pitchFamily="18" charset="0"/>
              </a:rPr>
              <a:t> la notification de crédit approuvé ;</a:t>
            </a:r>
            <a:endParaRPr lang="fr-FR" altLang="zh-CN" dirty="0" smtClean="0"/>
          </a:p>
          <a:p>
            <a:pPr marL="184150" marR="5080" indent="-171450">
              <a:lnSpc>
                <a:spcPct val="118800"/>
              </a:lnSpc>
              <a:spcBef>
                <a:spcPts val="10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rPr>
              <a:t>Suivi </a:t>
            </a:r>
            <a:r>
              <a:rPr lang="fr-FR" sz="1200" kern="100" dirty="0" smtClean="0">
                <a:solidFill>
                  <a:srgbClr val="000000"/>
                </a:solidFill>
                <a:latin typeface="Calibri" panose="020F0502020204030204" pitchFamily="34" charset="0"/>
                <a:ea typeface="Times New Roman" panose="02020603050405020304" pitchFamily="18" charset="0"/>
              </a:rPr>
              <a:t>et surveillance des engagements</a:t>
            </a:r>
          </a:p>
        </p:txBody>
      </p:sp>
      <p:sp>
        <p:nvSpPr>
          <p:cNvPr id="15" name="Rectangle 129"/>
          <p:cNvSpPr/>
          <p:nvPr/>
        </p:nvSpPr>
        <p:spPr>
          <a:xfrm>
            <a:off x="2787650" y="820032"/>
            <a:ext cx="3759328" cy="264688"/>
          </a:xfrm>
          <a:prstGeom prst="rect">
            <a:avLst/>
          </a:prstGeom>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4000"/>
              </a:lnSpc>
            </a:pPr>
            <a:r>
              <a:rPr lang="fr-FR" sz="1600" dirty="0" smtClean="0">
                <a:latin typeface="+mj-lt"/>
                <a:ea typeface="Open Sans" panose="020B0606030504020204" pitchFamily="34" charset="0"/>
                <a:cs typeface="Open Sans" panose="020B0606030504020204" pitchFamily="34" charset="0"/>
              </a:rPr>
              <a:t>Analyste de Crédit</a:t>
            </a:r>
            <a:endParaRPr lang="fr-FR" altLang="zh-CN" sz="1600" dirty="0"/>
          </a:p>
        </p:txBody>
      </p:sp>
      <p:grpSp>
        <p:nvGrpSpPr>
          <p:cNvPr id="16" name="object 19"/>
          <p:cNvGrpSpPr/>
          <p:nvPr/>
        </p:nvGrpSpPr>
        <p:grpSpPr>
          <a:xfrm>
            <a:off x="3342639" y="3201220"/>
            <a:ext cx="125125" cy="412796"/>
            <a:chOff x="3376121" y="4543035"/>
            <a:chExt cx="76228" cy="1293337"/>
          </a:xfrm>
        </p:grpSpPr>
        <p:sp>
          <p:nvSpPr>
            <p:cNvPr id="17" name="object 20"/>
            <p:cNvSpPr/>
            <p:nvPr/>
          </p:nvSpPr>
          <p:spPr>
            <a:xfrm>
              <a:off x="3409401" y="4570816"/>
              <a:ext cx="0" cy="1265556"/>
            </a:xfrm>
            <a:custGeom>
              <a:avLst/>
              <a:gdLst/>
              <a:ahLst/>
              <a:cxnLst/>
              <a:rect l="l" t="t" r="r" b="b"/>
              <a:pathLst>
                <a:path h="1265554">
                  <a:moveTo>
                    <a:pt x="0" y="1265092"/>
                  </a:moveTo>
                  <a:lnTo>
                    <a:pt x="0" y="0"/>
                  </a:lnTo>
                </a:path>
              </a:pathLst>
            </a:custGeom>
            <a:ln w="19057">
              <a:solidFill>
                <a:srgbClr val="250DAB"/>
              </a:solidFill>
            </a:ln>
          </p:spPr>
          <p:txBody>
            <a:bodyPr wrap="square" lIns="0" tIns="0" rIns="0" bIns="0" rtlCol="0"/>
            <a:lstStyle/>
            <a:p>
              <a:endParaRPr/>
            </a:p>
          </p:txBody>
        </p:sp>
        <p:pic>
          <p:nvPicPr>
            <p:cNvPr id="18" name="object 21"/>
            <p:cNvPicPr>
              <a:picLocks/>
            </p:cNvPicPr>
            <p:nvPr/>
          </p:nvPicPr>
          <p:blipFill>
            <a:blip r:embed="rId5" cstate="print"/>
            <a:stretch>
              <a:fillRect/>
            </a:stretch>
          </p:blipFill>
          <p:spPr>
            <a:xfrm>
              <a:off x="3376121" y="4543035"/>
              <a:ext cx="76228" cy="76228"/>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object 11"/>
          <p:cNvSpPr txBox="1"/>
          <p:nvPr/>
        </p:nvSpPr>
        <p:spPr>
          <a:xfrm>
            <a:off x="3490464" y="298450"/>
            <a:ext cx="3945386" cy="7813934"/>
          </a:xfrm>
          <a:prstGeom prst="rect">
            <a:avLst/>
          </a:prstGeom>
        </p:spPr>
        <p:txBody>
          <a:bodyPr vert="horz" wrap="square" lIns="0" tIns="12700" rIns="0" bIns="0" rtlCol="0">
            <a:spAutoFit/>
          </a:bodyPr>
          <a:lstStyle/>
          <a:p>
            <a:pPr marL="12700" marR="5080" algn="just">
              <a:lnSpc>
                <a:spcPct val="118800"/>
              </a:lnSpc>
              <a:spcBef>
                <a:spcPts val="600"/>
              </a:spcBef>
            </a:pPr>
            <a:r>
              <a:rPr lang="fr-FR" sz="1200" b="1" kern="100" dirty="0" smtClean="0">
                <a:solidFill>
                  <a:srgbClr val="000000"/>
                </a:solidFill>
                <a:latin typeface="Calibri" panose="020F0502020204030204" pitchFamily="34" charset="0"/>
                <a:ea typeface="Times New Roman" panose="02020603050405020304" pitchFamily="18" charset="0"/>
                <a:cs typeface="+mn-cs"/>
              </a:rPr>
              <a:t>Juillet </a:t>
            </a:r>
            <a:r>
              <a:rPr lang="fr-FR" sz="1200" b="1" kern="100" dirty="0">
                <a:solidFill>
                  <a:srgbClr val="000000"/>
                </a:solidFill>
                <a:latin typeface="Calibri" panose="020F0502020204030204" pitchFamily="34" charset="0"/>
                <a:ea typeface="Times New Roman" panose="02020603050405020304" pitchFamily="18" charset="0"/>
                <a:cs typeface="+mn-cs"/>
              </a:rPr>
              <a:t>2023 à Décembre 2023 : </a:t>
            </a:r>
            <a:r>
              <a:rPr lang="fr-FR" sz="1200" b="1" kern="100" dirty="0" smtClean="0">
                <a:solidFill>
                  <a:srgbClr val="000000"/>
                </a:solidFill>
                <a:latin typeface="Calibri" panose="020F0502020204030204" pitchFamily="34" charset="0"/>
                <a:ea typeface="Times New Roman" panose="02020603050405020304" pitchFamily="18" charset="0"/>
                <a:cs typeface="+mn-cs"/>
              </a:rPr>
              <a:t>Charge de clientèle ( Stage ) Mélina </a:t>
            </a:r>
            <a:r>
              <a:rPr lang="fr-FR" sz="1200" b="1" kern="100" dirty="0">
                <a:solidFill>
                  <a:srgbClr val="000000"/>
                </a:solidFill>
                <a:latin typeface="Calibri" panose="020F0502020204030204" pitchFamily="34" charset="0"/>
                <a:ea typeface="Times New Roman" panose="02020603050405020304" pitchFamily="18" charset="0"/>
                <a:cs typeface="+mn-cs"/>
              </a:rPr>
              <a:t>Business </a:t>
            </a:r>
            <a:r>
              <a:rPr lang="fr-FR" sz="1200" b="1" kern="100" dirty="0" smtClean="0">
                <a:solidFill>
                  <a:srgbClr val="000000"/>
                </a:solidFill>
                <a:latin typeface="Calibri" panose="020F0502020204030204" pitchFamily="34" charset="0"/>
                <a:ea typeface="Times New Roman" panose="02020603050405020304" pitchFamily="18" charset="0"/>
                <a:cs typeface="+mn-cs"/>
              </a:rPr>
              <a:t>Center  </a:t>
            </a:r>
            <a:r>
              <a:rPr lang="fr-FR" sz="1200" b="1" kern="100" dirty="0">
                <a:solidFill>
                  <a:srgbClr val="000000"/>
                </a:solidFill>
                <a:latin typeface="Calibri" panose="020F0502020204030204" pitchFamily="34" charset="0"/>
                <a:ea typeface="Times New Roman" panose="02020603050405020304" pitchFamily="18" charset="0"/>
                <a:cs typeface="+mn-cs"/>
              </a:rPr>
              <a:t>– Point distributeur express union</a:t>
            </a:r>
          </a:p>
          <a:p>
            <a:pPr marL="12700" marR="5080">
              <a:lnSpc>
                <a:spcPct val="118800"/>
              </a:lnSpc>
              <a:spcBef>
                <a:spcPts val="100"/>
              </a:spcBef>
            </a:pPr>
            <a:r>
              <a:rPr lang="fr-FR" sz="1200" b="1" kern="100" dirty="0">
                <a:solidFill>
                  <a:srgbClr val="000000"/>
                </a:solidFill>
                <a:latin typeface="Calibri" panose="020F0502020204030204" pitchFamily="34" charset="0"/>
                <a:ea typeface="Times New Roman" panose="02020603050405020304" pitchFamily="18" charset="0"/>
                <a:cs typeface="+mn-cs"/>
              </a:rPr>
              <a:t>Tâches :</a:t>
            </a:r>
          </a:p>
          <a:p>
            <a:pPr marL="184150" marR="5080" indent="-171450" algn="just">
              <a:lnSpc>
                <a:spcPct val="118800"/>
              </a:lnSpc>
              <a:spcBef>
                <a:spcPts val="10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Accueillir </a:t>
            </a:r>
            <a:r>
              <a:rPr lang="fr-FR" sz="1200" kern="100" dirty="0">
                <a:solidFill>
                  <a:srgbClr val="000000"/>
                </a:solidFill>
                <a:latin typeface="Calibri" panose="020F0502020204030204" pitchFamily="34" charset="0"/>
                <a:ea typeface="Times New Roman" panose="02020603050405020304" pitchFamily="18" charset="0"/>
                <a:cs typeface="+mn-cs"/>
              </a:rPr>
              <a:t>et </a:t>
            </a:r>
            <a:r>
              <a:rPr lang="fr-FR" sz="1200" kern="100" dirty="0" err="1" smtClean="0">
                <a:solidFill>
                  <a:srgbClr val="000000"/>
                </a:solidFill>
                <a:latin typeface="Calibri" panose="020F0502020204030204" pitchFamily="34" charset="0"/>
                <a:ea typeface="Times New Roman" panose="02020603050405020304" pitchFamily="18" charset="0"/>
                <a:cs typeface="+mn-cs"/>
              </a:rPr>
              <a:t>prospectté</a:t>
            </a: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de nouveaux produits </a:t>
            </a:r>
          </a:p>
          <a:p>
            <a:pPr marL="184150" marR="5080" indent="-171450" algn="just">
              <a:lnSpc>
                <a:spcPct val="118800"/>
              </a:lnSpc>
              <a:spcBef>
                <a:spcPts val="100"/>
              </a:spcBef>
              <a:buFont typeface="Arial" panose="020B0604020202020204" pitchFamily="34" charset="0"/>
              <a:buChar char="•"/>
            </a:pPr>
            <a:r>
              <a:rPr lang="fr-FR" sz="1200" kern="100" dirty="0">
                <a:solidFill>
                  <a:srgbClr val="000000"/>
                </a:solidFill>
                <a:latin typeface="Calibri" panose="020F0502020204030204" pitchFamily="34" charset="0"/>
                <a:ea typeface="Times New Roman" panose="02020603050405020304" pitchFamily="18" charset="0"/>
                <a:cs typeface="+mn-cs"/>
              </a:rPr>
              <a:t>Ouver</a:t>
            </a:r>
            <a:r>
              <a:rPr lang="en-US" altLang="fr-FR" sz="1200" kern="100" dirty="0">
                <a:solidFill>
                  <a:srgbClr val="000000"/>
                </a:solidFill>
                <a:latin typeface="Calibri" panose="020F0502020204030204" pitchFamily="34" charset="0"/>
                <a:ea typeface="Times New Roman" panose="02020603050405020304" pitchFamily="18" charset="0"/>
                <a:cs typeface="+mn-cs"/>
              </a:rPr>
              <a:t>ir </a:t>
            </a:r>
            <a:r>
              <a:rPr lang="fr-FR" sz="1200" kern="100" dirty="0">
                <a:solidFill>
                  <a:srgbClr val="000000"/>
                </a:solidFill>
                <a:latin typeface="Calibri" panose="020F0502020204030204" pitchFamily="34" charset="0"/>
                <a:ea typeface="Times New Roman" panose="02020603050405020304" pitchFamily="18" charset="0"/>
                <a:cs typeface="+mn-cs"/>
              </a:rPr>
              <a:t>des comptes des clients</a:t>
            </a:r>
            <a:endParaRPr lang="zh-CN" altLang="en-US" dirty="0"/>
          </a:p>
          <a:p>
            <a:pPr marL="184150" marR="5080" indent="-171450" algn="just">
              <a:lnSpc>
                <a:spcPct val="118800"/>
              </a:lnSpc>
              <a:spcBef>
                <a:spcPts val="100"/>
              </a:spcBef>
              <a:buFont typeface="Arial" panose="020B0604020202020204" pitchFamily="34" charset="0"/>
              <a:buChar char="•"/>
            </a:pPr>
            <a:r>
              <a:rPr lang="fr-FR" sz="1200" kern="100" dirty="0">
                <a:solidFill>
                  <a:srgbClr val="000000"/>
                </a:solidFill>
                <a:latin typeface="Calibri" panose="020F0502020204030204" pitchFamily="34" charset="0"/>
                <a:ea typeface="Times New Roman" panose="02020603050405020304" pitchFamily="18" charset="0"/>
                <a:cs typeface="+mn-cs"/>
              </a:rPr>
              <a:t>Géré</a:t>
            </a:r>
            <a:r>
              <a:rPr lang="en-US" altLang="fr-FR" sz="1200" kern="100" dirty="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les portefeuilles </a:t>
            </a:r>
            <a:r>
              <a:rPr lang="fr-FR" sz="1200" kern="100" dirty="0" smtClean="0">
                <a:solidFill>
                  <a:srgbClr val="000000"/>
                </a:solidFill>
                <a:latin typeface="Calibri" panose="020F0502020204030204" pitchFamily="34" charset="0"/>
                <a:ea typeface="Times New Roman" panose="02020603050405020304" pitchFamily="18" charset="0"/>
                <a:cs typeface="+mn-cs"/>
              </a:rPr>
              <a:t>et </a:t>
            </a:r>
            <a:r>
              <a:rPr lang="fr-FR" sz="1200" kern="100" dirty="0" smtClean="0">
                <a:solidFill>
                  <a:srgbClr val="000000"/>
                </a:solidFill>
                <a:latin typeface="Calibri" panose="020F0502020204030204" pitchFamily="34" charset="0"/>
                <a:ea typeface="Times New Roman" panose="02020603050405020304" pitchFamily="18" charset="0"/>
                <a:cs typeface="+mn-cs"/>
              </a:rPr>
              <a:t>réclamations </a:t>
            </a:r>
            <a:r>
              <a:rPr lang="fr-FR" sz="1200" kern="100" dirty="0">
                <a:solidFill>
                  <a:srgbClr val="000000"/>
                </a:solidFill>
                <a:latin typeface="Calibri" panose="020F0502020204030204" pitchFamily="34" charset="0"/>
                <a:ea typeface="Times New Roman" panose="02020603050405020304" pitchFamily="18" charset="0"/>
                <a:cs typeface="+mn-cs"/>
              </a:rPr>
              <a:t>des clients</a:t>
            </a:r>
            <a:endParaRPr lang="zh-CN" altLang="en-US" dirty="0"/>
          </a:p>
          <a:p>
            <a:pPr marL="184150" marR="5080" indent="-171450" algn="just">
              <a:lnSpc>
                <a:spcPct val="118800"/>
              </a:lnSpc>
              <a:spcBef>
                <a:spcPts val="100"/>
              </a:spcBef>
              <a:buFont typeface="Arial" panose="020B0604020202020204" pitchFamily="34" charset="0"/>
              <a:buChar char="•"/>
            </a:pPr>
            <a:r>
              <a:rPr lang="fr-FR" sz="1200" kern="100" dirty="0">
                <a:solidFill>
                  <a:srgbClr val="000000"/>
                </a:solidFill>
                <a:latin typeface="Calibri" panose="020F0502020204030204" pitchFamily="34" charset="0"/>
                <a:ea typeface="Times New Roman" panose="02020603050405020304" pitchFamily="18" charset="0"/>
                <a:cs typeface="+mn-cs"/>
              </a:rPr>
              <a:t>Envo</a:t>
            </a:r>
            <a:r>
              <a:rPr lang="en-US" altLang="fr-FR" sz="1200" kern="100" dirty="0">
                <a:solidFill>
                  <a:srgbClr val="000000"/>
                </a:solidFill>
                <a:latin typeface="Calibri" panose="020F0502020204030204" pitchFamily="34" charset="0"/>
                <a:ea typeface="Times New Roman" panose="02020603050405020304" pitchFamily="18" charset="0"/>
                <a:cs typeface="+mn-cs"/>
              </a:rPr>
              <a:t>y</a:t>
            </a:r>
            <a:r>
              <a:rPr lang="fr-FR" altLang="fr-FR" sz="1200" kern="100" dirty="0">
                <a:solidFill>
                  <a:srgbClr val="000000"/>
                </a:solidFill>
                <a:latin typeface="Calibri" panose="020F0502020204030204" pitchFamily="34" charset="0"/>
                <a:ea typeface="Times New Roman" panose="02020603050405020304" pitchFamily="18" charset="0"/>
                <a:cs typeface="+mn-cs"/>
              </a:rPr>
              <a:t>é</a:t>
            </a:r>
            <a:r>
              <a:rPr lang="en-US" altLang="fr-FR" sz="1200" kern="100" dirty="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de transfert via RIA, Money </a:t>
            </a:r>
            <a:r>
              <a:rPr lang="fr-FR" sz="1200" kern="100" dirty="0" err="1">
                <a:solidFill>
                  <a:srgbClr val="000000"/>
                </a:solidFill>
                <a:latin typeface="Calibri" panose="020F0502020204030204" pitchFamily="34" charset="0"/>
                <a:ea typeface="Times New Roman" panose="02020603050405020304" pitchFamily="18" charset="0"/>
                <a:cs typeface="+mn-cs"/>
              </a:rPr>
              <a:t>Cram</a:t>
            </a:r>
            <a:r>
              <a:rPr lang="fr-FR" sz="1200" kern="100" dirty="0">
                <a:solidFill>
                  <a:srgbClr val="000000"/>
                </a:solidFill>
                <a:latin typeface="Calibri" panose="020F0502020204030204" pitchFamily="34" charset="0"/>
                <a:ea typeface="Times New Roman" panose="02020603050405020304" pitchFamily="18" charset="0"/>
                <a:cs typeface="+mn-cs"/>
              </a:rPr>
              <a:t>, Express Union</a:t>
            </a:r>
            <a:endParaRPr lang="zh-CN" altLang="en-US" dirty="0"/>
          </a:p>
          <a:p>
            <a:pPr marL="184150" marR="5080" indent="-171450" algn="just">
              <a:lnSpc>
                <a:spcPct val="118800"/>
              </a:lnSpc>
              <a:spcBef>
                <a:spcPts val="100"/>
              </a:spcBef>
              <a:buFont typeface="Arial" panose="020B0604020202020204" pitchFamily="34" charset="0"/>
              <a:buChar char="•"/>
            </a:pPr>
            <a:r>
              <a:rPr lang="fr-FR" sz="1200" kern="100" dirty="0">
                <a:solidFill>
                  <a:srgbClr val="000000"/>
                </a:solidFill>
                <a:latin typeface="Calibri" panose="020F0502020204030204" pitchFamily="34" charset="0"/>
                <a:ea typeface="Times New Roman" panose="02020603050405020304" pitchFamily="18" charset="0"/>
                <a:cs typeface="+mn-cs"/>
              </a:rPr>
              <a:t>Gé</a:t>
            </a:r>
            <a:r>
              <a:rPr lang="en-US" altLang="fr-FR" sz="1200" kern="100" dirty="0">
                <a:solidFill>
                  <a:srgbClr val="000000"/>
                </a:solidFill>
                <a:latin typeface="Calibri" panose="020F0502020204030204" pitchFamily="34" charset="0"/>
                <a:ea typeface="Times New Roman" panose="02020603050405020304" pitchFamily="18" charset="0"/>
                <a:cs typeface="+mn-cs"/>
              </a:rPr>
              <a:t>r</a:t>
            </a:r>
            <a:r>
              <a:rPr lang="fr-FR" altLang="fr-FR" sz="1200" kern="100" dirty="0">
                <a:solidFill>
                  <a:srgbClr val="000000"/>
                </a:solidFill>
                <a:latin typeface="Calibri" panose="020F0502020204030204" pitchFamily="34" charset="0"/>
                <a:ea typeface="Times New Roman" panose="02020603050405020304" pitchFamily="18" charset="0"/>
                <a:cs typeface="+mn-cs"/>
              </a:rPr>
              <a:t>é</a:t>
            </a:r>
            <a:r>
              <a:rPr lang="en-US" altLang="fr-FR" sz="1200" kern="100" dirty="0">
                <a:solidFill>
                  <a:srgbClr val="000000"/>
                </a:solidFill>
                <a:latin typeface="Calibri" panose="020F0502020204030204" pitchFamily="34" charset="0"/>
                <a:ea typeface="Times New Roman" panose="02020603050405020304" pitchFamily="18" charset="0"/>
                <a:cs typeface="+mn-cs"/>
              </a:rPr>
              <a:t> l</a:t>
            </a:r>
            <a:r>
              <a:rPr lang="fr-FR" sz="1200" kern="100" dirty="0">
                <a:solidFill>
                  <a:srgbClr val="000000"/>
                </a:solidFill>
                <a:latin typeface="Calibri" panose="020F0502020204030204" pitchFamily="34" charset="0"/>
                <a:ea typeface="Times New Roman" panose="02020603050405020304" pitchFamily="18" charset="0"/>
                <a:cs typeface="+mn-cs"/>
              </a:rPr>
              <a:t>es courriers et</a:t>
            </a:r>
            <a:r>
              <a:rPr lang="en-US" altLang="fr-FR" sz="1200" kern="100" dirty="0">
                <a:solidFill>
                  <a:srgbClr val="000000"/>
                </a:solidFill>
                <a:latin typeface="Calibri" panose="020F0502020204030204" pitchFamily="34" charset="0"/>
                <a:ea typeface="Times New Roman" panose="02020603050405020304" pitchFamily="18" charset="0"/>
                <a:cs typeface="+mn-cs"/>
              </a:rPr>
              <a:t> l</a:t>
            </a:r>
            <a:r>
              <a:rPr lang="fr-FR" sz="1200" kern="100" dirty="0">
                <a:solidFill>
                  <a:srgbClr val="000000"/>
                </a:solidFill>
                <a:latin typeface="Calibri" panose="020F0502020204030204" pitchFamily="34" charset="0"/>
                <a:ea typeface="Times New Roman" panose="02020603050405020304" pitchFamily="18" charset="0"/>
                <a:cs typeface="+mn-cs"/>
              </a:rPr>
              <a:t>es appels avec les clients</a:t>
            </a:r>
            <a:endParaRPr lang="zh-CN" altLang="en-US" dirty="0"/>
          </a:p>
          <a:p>
            <a:pPr marL="184150" marR="5080" indent="-171450" algn="just">
              <a:lnSpc>
                <a:spcPct val="118800"/>
              </a:lnSpc>
              <a:spcBef>
                <a:spcPts val="100"/>
              </a:spcBef>
              <a:buFont typeface="Arial" panose="020B0604020202020204" pitchFamily="34" charset="0"/>
              <a:buChar char="•"/>
            </a:pPr>
            <a:r>
              <a:rPr lang="fr-FR" sz="1200" kern="100" dirty="0">
                <a:solidFill>
                  <a:srgbClr val="000000"/>
                </a:solidFill>
                <a:latin typeface="Calibri" panose="020F0502020204030204" pitchFamily="34" charset="0"/>
                <a:ea typeface="Times New Roman" panose="02020603050405020304" pitchFamily="18" charset="0"/>
                <a:cs typeface="+mn-cs"/>
              </a:rPr>
              <a:t>Vérif</a:t>
            </a:r>
            <a:r>
              <a:rPr lang="fr-FR" altLang="fr-FR" sz="1200" kern="100" dirty="0">
                <a:solidFill>
                  <a:srgbClr val="000000"/>
                </a:solidFill>
                <a:latin typeface="Calibri" panose="020F0502020204030204" pitchFamily="34" charset="0"/>
                <a:ea typeface="Times New Roman" panose="02020603050405020304" pitchFamily="18" charset="0"/>
                <a:cs typeface="+mn-cs"/>
              </a:rPr>
              <a:t>é</a:t>
            </a:r>
            <a:r>
              <a:rPr lang="fr-FR" sz="1200" kern="100" dirty="0">
                <a:solidFill>
                  <a:srgbClr val="000000"/>
                </a:solidFill>
                <a:latin typeface="Calibri" panose="020F0502020204030204" pitchFamily="34" charset="0"/>
                <a:ea typeface="Times New Roman" panose="02020603050405020304" pitchFamily="18" charset="0"/>
                <a:cs typeface="+mn-cs"/>
              </a:rPr>
              <a:t> </a:t>
            </a:r>
            <a:r>
              <a:rPr lang="en-US" altLang="fr-FR" sz="1200" kern="100" dirty="0">
                <a:solidFill>
                  <a:srgbClr val="000000"/>
                </a:solidFill>
                <a:latin typeface="Calibri" panose="020F0502020204030204" pitchFamily="34" charset="0"/>
                <a:ea typeface="Times New Roman" panose="02020603050405020304" pitchFamily="18" charset="0"/>
                <a:cs typeface="+mn-cs"/>
              </a:rPr>
              <a:t>l</a:t>
            </a:r>
            <a:r>
              <a:rPr lang="fr-FR" sz="1200" kern="100" dirty="0">
                <a:solidFill>
                  <a:srgbClr val="000000"/>
                </a:solidFill>
                <a:latin typeface="Calibri" panose="020F0502020204030204" pitchFamily="34" charset="0"/>
                <a:ea typeface="Times New Roman" panose="02020603050405020304" pitchFamily="18" charset="0"/>
                <a:cs typeface="+mn-cs"/>
              </a:rPr>
              <a:t>es documents </a:t>
            </a:r>
            <a:r>
              <a:rPr lang="en-US" altLang="fr-FR" sz="1200" kern="100" dirty="0">
                <a:solidFill>
                  <a:srgbClr val="000000"/>
                </a:solidFill>
                <a:latin typeface="Calibri" panose="020F0502020204030204" pitchFamily="34" charset="0"/>
                <a:ea typeface="Times New Roman" panose="02020603050405020304" pitchFamily="18" charset="0"/>
                <a:cs typeface="+mn-cs"/>
              </a:rPr>
              <a:t>de </a:t>
            </a:r>
            <a:r>
              <a:rPr lang="fr-FR" sz="1200" kern="100" dirty="0">
                <a:solidFill>
                  <a:srgbClr val="000000"/>
                </a:solidFill>
                <a:latin typeface="Calibri" panose="020F0502020204030204" pitchFamily="34" charset="0"/>
                <a:ea typeface="Times New Roman" panose="02020603050405020304" pitchFamily="18" charset="0"/>
                <a:cs typeface="+mn-cs"/>
              </a:rPr>
              <a:t>transferts sont complets et conformes (RIB, pièces d’identité, formulaire signés)</a:t>
            </a:r>
            <a:r>
              <a:rPr lang="fr-FR" sz="1000" dirty="0" smtClean="0">
                <a:solidFill>
                  <a:srgbClr val="07113C"/>
                </a:solidFill>
                <a:latin typeface="Lucida Sans Unicode"/>
                <a:cs typeface="Lucida Sans Unicode"/>
              </a:rPr>
              <a:t> </a:t>
            </a:r>
            <a:endParaRPr lang="zh-CN" altLang="en-US" dirty="0"/>
          </a:p>
          <a:p>
            <a:pPr marL="12700" marR="5080">
              <a:lnSpc>
                <a:spcPct val="118800"/>
              </a:lnSpc>
              <a:spcBef>
                <a:spcPts val="600"/>
              </a:spcBef>
            </a:pPr>
            <a:r>
              <a:rPr lang="fr-FR" sz="1200" b="1" kern="100" dirty="0">
                <a:solidFill>
                  <a:srgbClr val="000000"/>
                </a:solidFill>
                <a:latin typeface="Calibri" panose="020F0502020204030204" pitchFamily="34" charset="0"/>
                <a:ea typeface="Times New Roman" panose="02020603050405020304" pitchFamily="18" charset="0"/>
              </a:rPr>
              <a:t>07 Juillet 2024 au 15 Mars 2025 </a:t>
            </a:r>
            <a:r>
              <a:rPr lang="fr-FR" sz="1200" b="1" kern="100" dirty="0" smtClean="0">
                <a:solidFill>
                  <a:srgbClr val="000000"/>
                </a:solidFill>
                <a:latin typeface="Calibri" panose="020F0502020204030204" pitchFamily="34" charset="0"/>
                <a:ea typeface="Times New Roman" panose="02020603050405020304" pitchFamily="18" charset="0"/>
              </a:rPr>
              <a:t>: Comptable</a:t>
            </a:r>
          </a:p>
          <a:p>
            <a:pPr marL="12700" marR="5080">
              <a:lnSpc>
                <a:spcPct val="118800"/>
              </a:lnSpc>
              <a:spcBef>
                <a:spcPts val="100"/>
              </a:spcBef>
            </a:pPr>
            <a:r>
              <a:rPr lang="fr-FR" sz="1200" b="1" kern="100" dirty="0" smtClean="0">
                <a:solidFill>
                  <a:srgbClr val="000000"/>
                </a:solidFill>
                <a:latin typeface="Calibri" panose="020F0502020204030204" pitchFamily="34" charset="0"/>
                <a:ea typeface="Times New Roman" panose="02020603050405020304" pitchFamily="18" charset="0"/>
              </a:rPr>
              <a:t> </a:t>
            </a:r>
            <a:r>
              <a:rPr lang="fr-FR" sz="1200" b="1" kern="100" dirty="0" smtClean="0">
                <a:solidFill>
                  <a:srgbClr val="000000"/>
                </a:solidFill>
                <a:latin typeface="Calibri" panose="020F0502020204030204" pitchFamily="34" charset="0"/>
                <a:ea typeface="Times New Roman" panose="02020603050405020304" pitchFamily="18" charset="0"/>
                <a:cs typeface="+mn-cs"/>
              </a:rPr>
              <a:t>Atelier </a:t>
            </a:r>
            <a:r>
              <a:rPr lang="fr-FR" sz="1200" b="1" kern="100" dirty="0">
                <a:solidFill>
                  <a:srgbClr val="000000"/>
                </a:solidFill>
                <a:latin typeface="Calibri" panose="020F0502020204030204" pitchFamily="34" charset="0"/>
                <a:ea typeface="Times New Roman" panose="02020603050405020304" pitchFamily="18" charset="0"/>
                <a:cs typeface="+mn-cs"/>
              </a:rPr>
              <a:t>de Construction Métallique "Le Bon </a:t>
            </a:r>
            <a:r>
              <a:rPr lang="fr-FR" sz="1200" b="1" kern="100" dirty="0" smtClean="0">
                <a:solidFill>
                  <a:srgbClr val="000000"/>
                </a:solidFill>
                <a:latin typeface="Calibri" panose="020F0502020204030204" pitchFamily="34" charset="0"/>
                <a:ea typeface="Times New Roman" panose="02020603050405020304" pitchFamily="18" charset="0"/>
                <a:cs typeface="+mn-cs"/>
              </a:rPr>
              <a:t>Champ</a:t>
            </a:r>
            <a:r>
              <a:rPr lang="fr-FR" sz="1200" b="1" kern="100" dirty="0">
                <a:solidFill>
                  <a:srgbClr val="000000"/>
                </a:solidFill>
                <a:latin typeface="Calibri" panose="020F0502020204030204" pitchFamily="34" charset="0"/>
                <a:ea typeface="Times New Roman" panose="02020603050405020304" pitchFamily="18" charset="0"/>
              </a:rPr>
              <a:t> </a:t>
            </a:r>
            <a:r>
              <a:rPr lang="fr-FR" sz="1200" b="1" kern="100" dirty="0" smtClean="0">
                <a:solidFill>
                  <a:srgbClr val="000000"/>
                </a:solidFill>
                <a:latin typeface="Calibri" panose="020F0502020204030204" pitchFamily="34" charset="0"/>
                <a:ea typeface="Times New Roman" panose="02020603050405020304" pitchFamily="18" charset="0"/>
              </a:rPr>
              <a:t>"</a:t>
            </a:r>
            <a:r>
              <a:rPr lang="fr-FR" sz="1200" b="1" kern="100" dirty="0" smtClean="0">
                <a:solidFill>
                  <a:srgbClr val="000000"/>
                </a:solidFill>
                <a:latin typeface="Calibri" panose="020F0502020204030204" pitchFamily="34" charset="0"/>
                <a:ea typeface="Times New Roman" panose="02020603050405020304" pitchFamily="18" charset="0"/>
                <a:cs typeface="+mn-cs"/>
              </a:rPr>
              <a:t>/CDD</a:t>
            </a:r>
            <a:endParaRPr lang="fr-FR" sz="1200" kern="100" dirty="0" smtClean="0">
              <a:solidFill>
                <a:srgbClr val="000000"/>
              </a:solidFill>
              <a:latin typeface="Calibri" panose="020F0502020204030204" pitchFamily="34" charset="0"/>
              <a:ea typeface="Times New Roman" panose="02020603050405020304" pitchFamily="18" charset="0"/>
              <a:cs typeface="+mn-cs"/>
            </a:endParaRPr>
          </a:p>
          <a:p>
            <a:pPr marL="184150" marR="5080" indent="-171450" algn="just">
              <a:lnSpc>
                <a:spcPct val="118800"/>
              </a:lnSpc>
              <a:spcBef>
                <a:spcPts val="10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Ten</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ir</a:t>
            </a: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la comptabilité </a:t>
            </a:r>
            <a:r>
              <a:rPr lang="fr-FR" sz="1200" kern="100" dirty="0" smtClean="0">
                <a:solidFill>
                  <a:srgbClr val="000000"/>
                </a:solidFill>
                <a:latin typeface="Calibri" panose="020F0502020204030204" pitchFamily="34" charset="0"/>
                <a:ea typeface="Times New Roman" panose="02020603050405020304" pitchFamily="18" charset="0"/>
                <a:cs typeface="+mn-cs"/>
              </a:rPr>
              <a:t>générale </a:t>
            </a:r>
            <a:r>
              <a:rPr lang="fr-FR" sz="1200" kern="100" dirty="0">
                <a:solidFill>
                  <a:srgbClr val="000000"/>
                </a:solidFill>
                <a:latin typeface="Calibri" panose="020F0502020204030204" pitchFamily="34" charset="0"/>
                <a:ea typeface="Times New Roman" panose="02020603050405020304" pitchFamily="18" charset="0"/>
                <a:cs typeface="+mn-cs"/>
              </a:rPr>
              <a:t>et analytique de l'atelier, incluant la saisie des factures fournisseurs et clients.</a:t>
            </a:r>
            <a:endParaRPr lang="zh-CN" altLang="en-US" dirty="0"/>
          </a:p>
          <a:p>
            <a:pPr marL="184150" marR="5080" indent="-171450" algn="just">
              <a:lnSpc>
                <a:spcPct val="118800"/>
              </a:lnSpc>
              <a:spcBef>
                <a:spcPts val="100"/>
              </a:spcBef>
              <a:buFont typeface="Arial" panose="020B0604020202020204" pitchFamily="34" charset="0"/>
              <a:buChar char="•"/>
            </a:pPr>
            <a:r>
              <a:rPr lang="en-US" altLang="fr-FR" sz="1200" kern="100" dirty="0" smtClean="0">
                <a:solidFill>
                  <a:srgbClr val="000000"/>
                </a:solidFill>
                <a:latin typeface="Calibri" panose="020F0502020204030204" pitchFamily="34" charset="0"/>
                <a:ea typeface="Times New Roman" panose="02020603050405020304" pitchFamily="18" charset="0"/>
                <a:cs typeface="+mn-cs"/>
              </a:rPr>
              <a:t>Gér</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é</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la </a:t>
            </a:r>
            <a:r>
              <a:rPr lang="fr-FR" sz="1200" kern="100" dirty="0" smtClean="0">
                <a:solidFill>
                  <a:srgbClr val="000000"/>
                </a:solidFill>
                <a:latin typeface="Calibri" panose="020F0502020204030204" pitchFamily="34" charset="0"/>
                <a:ea typeface="Times New Roman" panose="02020603050405020304" pitchFamily="18" charset="0"/>
                <a:cs typeface="+mn-cs"/>
              </a:rPr>
              <a:t>trésorerie quotidienne</a:t>
            </a:r>
            <a:r>
              <a:rPr lang="fr-FR" sz="1200" kern="100" dirty="0">
                <a:solidFill>
                  <a:srgbClr val="000000"/>
                </a:solidFill>
                <a:latin typeface="Calibri" panose="020F0502020204030204" pitchFamily="34" charset="0"/>
                <a:ea typeface="Times New Roman" panose="02020603050405020304" pitchFamily="18" charset="0"/>
                <a:cs typeface="+mn-cs"/>
              </a:rPr>
              <a:t>, suiv</a:t>
            </a:r>
            <a:r>
              <a:rPr lang="en-US" altLang="fr-FR" sz="1200" kern="100" dirty="0">
                <a:solidFill>
                  <a:srgbClr val="000000"/>
                </a:solidFill>
                <a:latin typeface="Calibri" panose="020F0502020204030204" pitchFamily="34" charset="0"/>
                <a:ea typeface="Times New Roman" panose="02020603050405020304" pitchFamily="18" charset="0"/>
                <a:cs typeface="+mn-cs"/>
              </a:rPr>
              <a:t>re</a:t>
            </a:r>
            <a:r>
              <a:rPr lang="fr-FR" sz="1200" kern="100" dirty="0">
                <a:solidFill>
                  <a:srgbClr val="000000"/>
                </a:solidFill>
                <a:latin typeface="Calibri" panose="020F0502020204030204" pitchFamily="34" charset="0"/>
                <a:ea typeface="Times New Roman" panose="02020603050405020304" pitchFamily="18" charset="0"/>
                <a:cs typeface="+mn-cs"/>
              </a:rPr>
              <a:t> </a:t>
            </a:r>
            <a:r>
              <a:rPr lang="en-US" altLang="fr-FR" sz="1200" kern="100" dirty="0">
                <a:solidFill>
                  <a:srgbClr val="000000"/>
                </a:solidFill>
                <a:latin typeface="Calibri" panose="020F0502020204030204" pitchFamily="34" charset="0"/>
                <a:ea typeface="Times New Roman" panose="02020603050405020304" pitchFamily="18" charset="0"/>
                <a:cs typeface="+mn-cs"/>
              </a:rPr>
              <a:t>l</a:t>
            </a:r>
            <a:r>
              <a:rPr lang="fr-FR" sz="1200" kern="100" dirty="0">
                <a:solidFill>
                  <a:srgbClr val="000000"/>
                </a:solidFill>
                <a:latin typeface="Calibri" panose="020F0502020204030204" pitchFamily="34" charset="0"/>
                <a:ea typeface="Times New Roman" panose="02020603050405020304" pitchFamily="18" charset="0"/>
                <a:cs typeface="+mn-cs"/>
              </a:rPr>
              <a:t>es flux de caisse et </a:t>
            </a:r>
            <a:r>
              <a:rPr lang="fr-FR" sz="1200" kern="100" dirty="0" err="1" smtClean="0">
                <a:solidFill>
                  <a:srgbClr val="000000"/>
                </a:solidFill>
                <a:latin typeface="Calibri" panose="020F0502020204030204" pitchFamily="34" charset="0"/>
                <a:ea typeface="Times New Roman" panose="02020603050405020304" pitchFamily="18" charset="0"/>
                <a:cs typeface="+mn-cs"/>
              </a:rPr>
              <a:t>réalis</a:t>
            </a:r>
            <a:r>
              <a:rPr lang="en-US" sz="1200" kern="100" dirty="0">
                <a:solidFill>
                  <a:srgbClr val="000000"/>
                </a:solidFill>
                <a:latin typeface="Calibri" panose="020F0502020204030204" pitchFamily="34" charset="0"/>
                <a:ea typeface="Times New Roman" panose="02020603050405020304" pitchFamily="18" charset="0"/>
                <a:cs typeface="+mn-cs"/>
              </a:rPr>
              <a:t>é</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 </a:t>
            </a:r>
            <a:r>
              <a:rPr lang="en-US" altLang="fr-FR" sz="1200" kern="100" dirty="0">
                <a:solidFill>
                  <a:srgbClr val="000000"/>
                </a:solidFill>
                <a:latin typeface="Calibri" panose="020F0502020204030204" pitchFamily="34" charset="0"/>
                <a:ea typeface="Times New Roman" panose="02020603050405020304" pitchFamily="18" charset="0"/>
                <a:cs typeface="+mn-cs"/>
              </a:rPr>
              <a:t>l</a:t>
            </a:r>
            <a:r>
              <a:rPr lang="fr-FR" sz="1200" kern="100" dirty="0">
                <a:solidFill>
                  <a:srgbClr val="000000"/>
                </a:solidFill>
                <a:latin typeface="Calibri" panose="020F0502020204030204" pitchFamily="34" charset="0"/>
                <a:ea typeface="Times New Roman" panose="02020603050405020304" pitchFamily="18" charset="0"/>
                <a:cs typeface="+mn-cs"/>
              </a:rPr>
              <a:t>es rapprochements bancaires.</a:t>
            </a:r>
            <a:endParaRPr lang="zh-CN" altLang="en-US" dirty="0"/>
          </a:p>
          <a:p>
            <a:pPr marL="184150" marR="5080" indent="-171450" algn="just">
              <a:lnSpc>
                <a:spcPct val="118800"/>
              </a:lnSpc>
              <a:spcBef>
                <a:spcPts val="100"/>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Établi</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r</a:t>
            </a: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a:solidFill>
                  <a:srgbClr val="000000"/>
                </a:solidFill>
                <a:latin typeface="Calibri" panose="020F0502020204030204" pitchFamily="34" charset="0"/>
                <a:ea typeface="Times New Roman" panose="02020603050405020304" pitchFamily="18" charset="0"/>
                <a:cs typeface="+mn-cs"/>
              </a:rPr>
              <a:t>des devis et </a:t>
            </a:r>
            <a:r>
              <a:rPr lang="fr-FR" sz="1200" kern="100" dirty="0" smtClean="0">
                <a:solidFill>
                  <a:srgbClr val="000000"/>
                </a:solidFill>
                <a:latin typeface="Calibri" panose="020F0502020204030204" pitchFamily="34" charset="0"/>
                <a:ea typeface="Times New Roman" panose="02020603050405020304" pitchFamily="18" charset="0"/>
                <a:cs typeface="+mn-cs"/>
              </a:rPr>
              <a:t>factures </a:t>
            </a:r>
            <a:r>
              <a:rPr lang="fr-FR" sz="1200" kern="100" dirty="0">
                <a:solidFill>
                  <a:srgbClr val="000000"/>
                </a:solidFill>
                <a:latin typeface="Calibri" panose="020F0502020204030204" pitchFamily="34" charset="0"/>
                <a:ea typeface="Times New Roman" panose="02020603050405020304" pitchFamily="18" charset="0"/>
                <a:cs typeface="+mn-cs"/>
              </a:rPr>
              <a:t>pour les travaux de construction métallique, en collaboration avec l'équipe technique.</a:t>
            </a:r>
            <a:endParaRPr lang="zh-CN" altLang="en-US" dirty="0"/>
          </a:p>
          <a:p>
            <a:pPr marL="184150" marR="5080" indent="-171450" algn="just">
              <a:lnSpc>
                <a:spcPct val="118800"/>
              </a:lnSpc>
              <a:spcBef>
                <a:spcPts val="100"/>
              </a:spcBef>
              <a:buFont typeface="Arial" panose="020B0604020202020204" pitchFamily="34" charset="0"/>
              <a:buChar char="•"/>
            </a:pPr>
            <a:r>
              <a:rPr lang="en-US" altLang="fr-FR" sz="1200" kern="100" dirty="0" smtClean="0">
                <a:solidFill>
                  <a:srgbClr val="000000"/>
                </a:solidFill>
                <a:latin typeface="Calibri" panose="020F0502020204030204" pitchFamily="34" charset="0"/>
                <a:ea typeface="Times New Roman" panose="02020603050405020304" pitchFamily="18" charset="0"/>
                <a:cs typeface="+mn-cs"/>
              </a:rPr>
              <a:t>assur</a:t>
            </a:r>
            <a:r>
              <a:rPr lang="fr-FR" altLang="fr-FR" sz="1200" kern="100" dirty="0" smtClean="0">
                <a:solidFill>
                  <a:srgbClr val="000000"/>
                </a:solidFill>
                <a:latin typeface="Calibri" panose="020F0502020204030204" pitchFamily="34" charset="0"/>
                <a:ea typeface="Times New Roman" panose="02020603050405020304" pitchFamily="18" charset="0"/>
                <a:cs typeface="+mn-cs"/>
              </a:rPr>
              <a:t>é</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 la g</a:t>
            </a:r>
            <a:r>
              <a:rPr lang="fr-FR" sz="1200" kern="100" dirty="0" smtClean="0">
                <a:solidFill>
                  <a:srgbClr val="000000"/>
                </a:solidFill>
                <a:latin typeface="Calibri" panose="020F0502020204030204" pitchFamily="34" charset="0"/>
                <a:ea typeface="Times New Roman" panose="02020603050405020304" pitchFamily="18" charset="0"/>
                <a:cs typeface="+mn-cs"/>
              </a:rPr>
              <a:t>estion administrative </a:t>
            </a:r>
            <a:r>
              <a:rPr lang="fr-FR" sz="1200" kern="100" dirty="0">
                <a:solidFill>
                  <a:srgbClr val="000000"/>
                </a:solidFill>
                <a:latin typeface="Calibri" panose="020F0502020204030204" pitchFamily="34" charset="0"/>
                <a:ea typeface="Times New Roman" panose="02020603050405020304" pitchFamily="18" charset="0"/>
                <a:cs typeface="+mn-cs"/>
              </a:rPr>
              <a:t>courante (classement, archivage des pièces comptables, gestion des contrats</a:t>
            </a:r>
            <a:r>
              <a:rPr lang="fr-FR" sz="1200" kern="100" dirty="0" smtClean="0">
                <a:solidFill>
                  <a:srgbClr val="000000"/>
                </a:solidFill>
                <a:latin typeface="Calibri" panose="020F0502020204030204" pitchFamily="34" charset="0"/>
                <a:ea typeface="Times New Roman" panose="02020603050405020304" pitchFamily="18" charset="0"/>
                <a:cs typeface="+mn-cs"/>
              </a:rPr>
              <a:t>).</a:t>
            </a:r>
            <a:endParaRPr lang="zh-CN" altLang="en-US" dirty="0"/>
          </a:p>
          <a:p>
            <a:pPr marL="12700" marR="5080" indent="-171450" algn="just">
              <a:spcBef>
                <a:spcPts val="600"/>
              </a:spcBef>
              <a:buFont typeface="Arial" panose="020B0604020202020204" pitchFamily="34" charset="0"/>
              <a:buChar char="•"/>
            </a:pPr>
            <a:r>
              <a:rPr lang="fr-FR" sz="1500" b="1" spc="85" dirty="0">
                <a:solidFill>
                  <a:srgbClr val="07113C"/>
                </a:solidFill>
                <a:latin typeface="Century Gothic"/>
                <a:cs typeface="Century Gothic"/>
              </a:rPr>
              <a:t>CERTIFICATS DE FORMATION</a:t>
            </a:r>
          </a:p>
          <a:p>
            <a:pPr marL="12700" marR="5080" algn="just">
              <a:lnSpc>
                <a:spcPct val="118800"/>
              </a:lnSpc>
              <a:spcBef>
                <a:spcPts val="6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2026 :</a:t>
            </a:r>
            <a:r>
              <a:rPr lang="en-US" altLang="fr-FR" sz="1200" kern="100" dirty="0" smtClean="0">
                <a:solidFill>
                  <a:srgbClr val="000000"/>
                </a:solidFill>
                <a:latin typeface="Calibri" panose="020F0502020204030204" pitchFamily="34" charset="0"/>
                <a:ea typeface="Times New Roman" panose="02020603050405020304" pitchFamily="18" charset="0"/>
                <a:cs typeface="+mn-cs"/>
              </a:rPr>
              <a:t> Certificat en Excel avancé et Power BI avec MOSSO CORPORATION et Réussir BeGou</a:t>
            </a:r>
            <a:endParaRPr lang="zh-CN" altLang="en-US" dirty="0"/>
          </a:p>
          <a:p>
            <a:pPr marL="12700" marR="5080" algn="just">
              <a:lnSpc>
                <a:spcPct val="118800"/>
              </a:lnSpc>
              <a:spcBef>
                <a:spcPts val="600"/>
              </a:spcBef>
            </a:pPr>
            <a:r>
              <a:rPr lang="en-US" altLang="fr-FR" sz="1200" kern="100" dirty="0" smtClean="0">
                <a:solidFill>
                  <a:srgbClr val="000000"/>
                </a:solidFill>
                <a:latin typeface="Calibri" panose="020F0502020204030204" pitchFamily="34" charset="0"/>
                <a:ea typeface="Times New Roman" panose="02020603050405020304" pitchFamily="18" charset="0"/>
                <a:cs typeface="+mn-cs"/>
              </a:rPr>
              <a:t>2026:</a:t>
            </a:r>
            <a:r>
              <a:rPr lang="fr-FR" sz="1200" kern="100" dirty="0" smtClean="0">
                <a:solidFill>
                  <a:srgbClr val="000000"/>
                </a:solidFill>
                <a:latin typeface="Calibri" panose="020F0502020204030204" pitchFamily="34" charset="0"/>
                <a:ea typeface="Times New Roman" panose="02020603050405020304" pitchFamily="18" charset="0"/>
                <a:cs typeface="+mn-cs"/>
              </a:rPr>
              <a:t> Attestation de mise en œuvre et au pilotage de projets de développement</a:t>
            </a:r>
            <a:endParaRPr lang="zh-CN" altLang="en-US" dirty="0"/>
          </a:p>
          <a:p>
            <a:pPr marL="12700" marR="5080" algn="just">
              <a:lnSpc>
                <a:spcPct val="118800"/>
              </a:lnSpc>
              <a:spcBef>
                <a:spcPts val="1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2025: Certificat en Gestion de risque commerciaux et Financiers</a:t>
            </a:r>
          </a:p>
          <a:p>
            <a:pPr marL="12700" marR="5080" algn="just">
              <a:lnSpc>
                <a:spcPct val="118800"/>
              </a:lnSpc>
              <a:spcBef>
                <a:spcPts val="1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2024: Certificat IPM Audit et Conformité Bancaire Expertise</a:t>
            </a:r>
          </a:p>
          <a:p>
            <a:pPr marL="12700" marR="5080" algn="just">
              <a:lnSpc>
                <a:spcPct val="118800"/>
              </a:lnSpc>
              <a:spcBef>
                <a:spcPts val="1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2022: Lauréat du programme d’entreprenariat et leadership TONY ELUMELU.</a:t>
            </a:r>
          </a:p>
          <a:p>
            <a:pPr marL="12700" marR="5080" algn="just">
              <a:lnSpc>
                <a:spcPct val="118800"/>
              </a:lnSpc>
              <a:spcBef>
                <a:spcPts val="100"/>
              </a:spcBef>
            </a:pPr>
            <a:r>
              <a:rPr lang="fr-FR" sz="1200" kern="100" dirty="0" smtClean="0">
                <a:solidFill>
                  <a:srgbClr val="000000"/>
                </a:solidFill>
                <a:latin typeface="Calibri" panose="020F0502020204030204" pitchFamily="34" charset="0"/>
                <a:ea typeface="Times New Roman" panose="02020603050405020304" pitchFamily="18" charset="0"/>
                <a:cs typeface="+mn-cs"/>
              </a:rPr>
              <a:t>2021 : Attestation de formation en leadership et entreprenariat </a:t>
            </a:r>
          </a:p>
          <a:p>
            <a:pPr marL="12700" marR="5080" algn="just">
              <a:lnSpc>
                <a:spcPct val="118800"/>
              </a:lnSpc>
              <a:spcBef>
                <a:spcPts val="100"/>
              </a:spcBef>
            </a:pPr>
            <a:endParaRPr lang="fr-FR" sz="1200" kern="100" dirty="0">
              <a:solidFill>
                <a:srgbClr val="000000"/>
              </a:solidFill>
              <a:latin typeface="Calibri" panose="020F0502020204030204" pitchFamily="34" charset="0"/>
              <a:ea typeface="Times New Roman" panose="02020603050405020304" pitchFamily="18" charset="0"/>
              <a:cs typeface="+mn-cs"/>
            </a:endParaRPr>
          </a:p>
        </p:txBody>
      </p:sp>
      <p:grpSp>
        <p:nvGrpSpPr>
          <p:cNvPr id="14" name="object 19"/>
          <p:cNvGrpSpPr/>
          <p:nvPr/>
        </p:nvGrpSpPr>
        <p:grpSpPr>
          <a:xfrm>
            <a:off x="3376121" y="4543035"/>
            <a:ext cx="76835" cy="1336675"/>
            <a:chOff x="3376121" y="4543035"/>
            <a:chExt cx="76835" cy="1336675"/>
          </a:xfrm>
        </p:grpSpPr>
        <p:sp>
          <p:nvSpPr>
            <p:cNvPr id="1048616" name="object 20"/>
            <p:cNvSpPr/>
            <p:nvPr/>
          </p:nvSpPr>
          <p:spPr>
            <a:xfrm>
              <a:off x="3414236" y="4614499"/>
              <a:ext cx="0" cy="1265555"/>
            </a:xfrm>
            <a:custGeom>
              <a:avLst/>
              <a:gdLst/>
              <a:ahLst/>
              <a:cxnLst/>
              <a:rect l="l" t="t" r="r" b="b"/>
              <a:pathLst>
                <a:path h="1265554">
                  <a:moveTo>
                    <a:pt x="0" y="1265092"/>
                  </a:moveTo>
                  <a:lnTo>
                    <a:pt x="0" y="0"/>
                  </a:lnTo>
                </a:path>
              </a:pathLst>
            </a:custGeom>
            <a:ln w="19057">
              <a:solidFill>
                <a:srgbClr val="250DAB"/>
              </a:solidFill>
            </a:ln>
          </p:spPr>
          <p:txBody>
            <a:bodyPr wrap="square" lIns="0" tIns="0" rIns="0" bIns="0" rtlCol="0"/>
            <a:lstStyle/>
            <a:p>
              <a:endParaRPr/>
            </a:p>
          </p:txBody>
        </p:sp>
        <p:pic>
          <p:nvPicPr>
            <p:cNvPr id="2097162" name="object 21"/>
            <p:cNvPicPr>
              <a:picLocks/>
            </p:cNvPicPr>
            <p:nvPr/>
          </p:nvPicPr>
          <p:blipFill>
            <a:blip r:embed="rId2" cstate="print"/>
            <a:stretch>
              <a:fillRect/>
            </a:stretch>
          </p:blipFill>
          <p:spPr>
            <a:xfrm>
              <a:off x="3376121" y="4543035"/>
              <a:ext cx="76228" cy="76228"/>
            </a:xfrm>
            <a:prstGeom prst="rect">
              <a:avLst/>
            </a:prstGeom>
          </p:spPr>
        </p:pic>
      </p:grpSp>
      <p:grpSp>
        <p:nvGrpSpPr>
          <p:cNvPr id="15" name="object 19"/>
          <p:cNvGrpSpPr/>
          <p:nvPr/>
        </p:nvGrpSpPr>
        <p:grpSpPr>
          <a:xfrm>
            <a:off x="3394557" y="5880054"/>
            <a:ext cx="76835" cy="1336675"/>
            <a:chOff x="3376121" y="4543035"/>
            <a:chExt cx="76835" cy="1336675"/>
          </a:xfrm>
        </p:grpSpPr>
        <p:sp>
          <p:nvSpPr>
            <p:cNvPr id="1048617" name="object 20"/>
            <p:cNvSpPr/>
            <p:nvPr/>
          </p:nvSpPr>
          <p:spPr>
            <a:xfrm>
              <a:off x="3414236" y="4614499"/>
              <a:ext cx="0" cy="1265555"/>
            </a:xfrm>
            <a:custGeom>
              <a:avLst/>
              <a:gdLst/>
              <a:ahLst/>
              <a:cxnLst/>
              <a:rect l="l" t="t" r="r" b="b"/>
              <a:pathLst>
                <a:path h="1265554">
                  <a:moveTo>
                    <a:pt x="0" y="1265092"/>
                  </a:moveTo>
                  <a:lnTo>
                    <a:pt x="0" y="0"/>
                  </a:lnTo>
                </a:path>
              </a:pathLst>
            </a:custGeom>
            <a:ln w="19057">
              <a:solidFill>
                <a:srgbClr val="250DAB"/>
              </a:solidFill>
            </a:ln>
          </p:spPr>
          <p:txBody>
            <a:bodyPr wrap="square" lIns="0" tIns="0" rIns="0" bIns="0" rtlCol="0"/>
            <a:lstStyle/>
            <a:p>
              <a:endParaRPr/>
            </a:p>
          </p:txBody>
        </p:sp>
        <p:pic>
          <p:nvPicPr>
            <p:cNvPr id="2097163" name="object 21"/>
            <p:cNvPicPr>
              <a:picLocks/>
            </p:cNvPicPr>
            <p:nvPr/>
          </p:nvPicPr>
          <p:blipFill>
            <a:blip r:embed="rId2" cstate="print"/>
            <a:stretch>
              <a:fillRect/>
            </a:stretch>
          </p:blipFill>
          <p:spPr>
            <a:xfrm>
              <a:off x="3376121" y="4543035"/>
              <a:ext cx="76228" cy="76228"/>
            </a:xfrm>
            <a:prstGeom prst="rect">
              <a:avLst/>
            </a:prstGeom>
          </p:spPr>
        </p:pic>
      </p:grpSp>
      <p:sp>
        <p:nvSpPr>
          <p:cNvPr id="1048618" name="object 6"/>
          <p:cNvSpPr txBox="1"/>
          <p:nvPr/>
        </p:nvSpPr>
        <p:spPr>
          <a:xfrm>
            <a:off x="120650" y="250223"/>
            <a:ext cx="3217356" cy="7711342"/>
          </a:xfrm>
          <a:prstGeom prst="rect">
            <a:avLst/>
          </a:prstGeom>
          <a:solidFill>
            <a:srgbClr val="F5F6FF"/>
          </a:solidFill>
        </p:spPr>
        <p:txBody>
          <a:bodyPr vert="horz" wrap="square" lIns="0" tIns="143510" rIns="0" bIns="0" rtlCol="0">
            <a:spAutoFit/>
          </a:bodyPr>
          <a:lstStyle/>
          <a:p>
            <a:pPr marL="171450" indent="-171450" algn="just">
              <a:lnSpc>
                <a:spcPct val="115000"/>
              </a:lnSpc>
              <a:spcBef>
                <a:spcPts val="545"/>
              </a:spcBef>
              <a:buFont typeface="Wingdings" panose="05000000000000000000" pitchFamily="2" charset="2"/>
              <a:buChar char="v"/>
            </a:pPr>
            <a:r>
              <a:rPr lang="fr-FR" sz="1200" kern="100" dirty="0" smtClean="0">
                <a:solidFill>
                  <a:srgbClr val="000000"/>
                </a:solidFill>
                <a:latin typeface="Calibri" panose="020F0502020204030204" pitchFamily="34" charset="0"/>
                <a:ea typeface="Times New Roman" panose="02020603050405020304" pitchFamily="18" charset="0"/>
                <a:cs typeface="+mn-cs"/>
              </a:rPr>
              <a:t>LOGICIELS MAÎTRISÉS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SAP SAARI</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MS (Word ; Excel avancé, Publisher, Powerpoint)</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Power Bi</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Outlook</a:t>
            </a:r>
          </a:p>
          <a:p>
            <a:pPr marL="171450" indent="-171450" algn="just">
              <a:lnSpc>
                <a:spcPct val="115000"/>
              </a:lnSpc>
              <a:spcBef>
                <a:spcPts val="545"/>
              </a:spcBef>
              <a:buFont typeface="Wingdings" panose="05000000000000000000" pitchFamily="2" charset="2"/>
              <a:buChar char="v"/>
            </a:pPr>
            <a:r>
              <a:rPr lang="fr-FR" sz="1500" b="1" spc="85" dirty="0">
                <a:solidFill>
                  <a:srgbClr val="07113C"/>
                </a:solidFill>
                <a:latin typeface="Century Gothic"/>
                <a:cs typeface="Century Gothic"/>
              </a:rPr>
              <a:t>CENTRE D’INTÉRÊT</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rPr>
              <a:t>Volontariat</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rPr>
              <a:t>Langues étrangères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rPr>
              <a:t>Voyage</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rPr>
              <a:t>Jeux </a:t>
            </a:r>
            <a:r>
              <a:rPr lang="fr-FR" sz="1200" kern="100" dirty="0">
                <a:solidFill>
                  <a:srgbClr val="000000"/>
                </a:solidFill>
                <a:latin typeface="Calibri" panose="020F0502020204030204" pitchFamily="34" charset="0"/>
                <a:ea typeface="Times New Roman" panose="02020603050405020304" pitchFamily="18" charset="0"/>
              </a:rPr>
              <a:t>de </a:t>
            </a:r>
            <a:r>
              <a:rPr lang="fr-FR" sz="1200" kern="100" dirty="0" smtClean="0">
                <a:solidFill>
                  <a:srgbClr val="000000"/>
                </a:solidFill>
                <a:latin typeface="Calibri" panose="020F0502020204030204" pitchFamily="34" charset="0"/>
                <a:ea typeface="Times New Roman" panose="02020603050405020304" pitchFamily="18" charset="0"/>
              </a:rPr>
              <a:t>stratégie</a:t>
            </a:r>
          </a:p>
          <a:p>
            <a:pPr marL="171450" indent="-171450" algn="just">
              <a:lnSpc>
                <a:spcPct val="115000"/>
              </a:lnSpc>
              <a:spcBef>
                <a:spcPts val="545"/>
              </a:spcBef>
              <a:buFont typeface="Wingdings" panose="05000000000000000000" pitchFamily="2" charset="2"/>
              <a:buChar char="v"/>
            </a:pPr>
            <a:r>
              <a:rPr lang="fr-FR" sz="1500" b="1" spc="85" dirty="0" smtClean="0">
                <a:solidFill>
                  <a:srgbClr val="07113C"/>
                </a:solidFill>
                <a:latin typeface="Century Gothic"/>
                <a:cs typeface="Century Gothic"/>
              </a:rPr>
              <a:t>LANGUES</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Français : Excellent</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 Anglais : Intermédiaire</a:t>
            </a:r>
          </a:p>
          <a:p>
            <a:pPr marL="171450" indent="-171450" algn="just">
              <a:lnSpc>
                <a:spcPct val="115000"/>
              </a:lnSpc>
              <a:spcBef>
                <a:spcPts val="545"/>
              </a:spcBef>
              <a:buFont typeface="Arial" panose="020B0604020202020204" pitchFamily="34" charset="0"/>
              <a:buChar char="•"/>
            </a:pPr>
            <a:r>
              <a:rPr lang="fr-FR" sz="1200" kern="100" dirty="0" smtClean="0">
                <a:solidFill>
                  <a:srgbClr val="000000"/>
                </a:solidFill>
                <a:latin typeface="Calibri" panose="020F0502020204030204" pitchFamily="34" charset="0"/>
                <a:ea typeface="Times New Roman" panose="02020603050405020304" pitchFamily="18" charset="0"/>
                <a:cs typeface="+mn-cs"/>
              </a:rPr>
              <a:t> Arabe tchadien : bien</a:t>
            </a:r>
          </a:p>
          <a:p>
            <a:pPr marL="171450" indent="-171450" algn="just">
              <a:lnSpc>
                <a:spcPct val="115000"/>
              </a:lnSpc>
              <a:spcBef>
                <a:spcPts val="545"/>
              </a:spcBef>
              <a:buFont typeface="Wingdings" panose="05000000000000000000" pitchFamily="2" charset="2"/>
              <a:buChar char="v"/>
            </a:pPr>
            <a:r>
              <a:rPr lang="fr-FR" sz="1500" b="1" spc="85" dirty="0">
                <a:solidFill>
                  <a:srgbClr val="07113C"/>
                </a:solidFill>
                <a:latin typeface="Century Gothic"/>
                <a:cs typeface="Century Gothic"/>
              </a:rPr>
              <a:t>RÉFÉRENCE</a:t>
            </a:r>
          </a:p>
          <a:p>
            <a:pPr>
              <a:lnSpc>
                <a:spcPct val="150000"/>
              </a:lnSpc>
            </a:pPr>
            <a:r>
              <a:rPr lang="fr-FR" sz="1200" b="1" i="0" u="none" strike="noStrike" baseline="0" dirty="0" smtClean="0">
                <a:solidFill>
                  <a:srgbClr val="000000"/>
                </a:solidFill>
                <a:latin typeface="Times New Roman" panose="02020603050405020304" pitchFamily="18" charset="0"/>
              </a:rPr>
              <a:t>1.</a:t>
            </a:r>
            <a:r>
              <a:rPr lang="fr-FR" sz="1200" b="1" i="0" u="none" strike="noStrike" dirty="0" smtClean="0">
                <a:solidFill>
                  <a:srgbClr val="000000"/>
                </a:solidFill>
                <a:latin typeface="Times New Roman" panose="02020603050405020304" pitchFamily="18" charset="0"/>
              </a:rPr>
              <a:t> </a:t>
            </a:r>
            <a:r>
              <a:rPr lang="fr-FR" sz="1200" b="1" i="0" u="none" strike="noStrike" baseline="0" dirty="0" smtClean="0">
                <a:solidFill>
                  <a:srgbClr val="000000"/>
                </a:solidFill>
                <a:latin typeface="Times New Roman" panose="02020603050405020304" pitchFamily="18" charset="0"/>
              </a:rPr>
              <a:t>ABDELAZIZ MAHAMAT: </a:t>
            </a:r>
            <a:r>
              <a:rPr lang="fr-FR" sz="1200" b="0" i="0" u="none" strike="noStrike" baseline="0" dirty="0" smtClean="0">
                <a:solidFill>
                  <a:srgbClr val="000000"/>
                </a:solidFill>
                <a:latin typeface="Times New Roman" panose="02020603050405020304" pitchFamily="18" charset="0"/>
              </a:rPr>
              <a:t>Adjoint Directeur des Engagements </a:t>
            </a:r>
            <a:r>
              <a:rPr lang="fr-FR" sz="1200" b="0" i="0" u="none" strike="noStrike" baseline="0" dirty="0" err="1" smtClean="0">
                <a:solidFill>
                  <a:srgbClr val="000000"/>
                </a:solidFill>
                <a:latin typeface="Times New Roman" panose="02020603050405020304" pitchFamily="18" charset="0"/>
              </a:rPr>
              <a:t>Coris</a:t>
            </a:r>
            <a:r>
              <a:rPr lang="fr-FR" sz="1200" b="0" i="0" u="none" strike="noStrike" baseline="0" dirty="0" smtClean="0">
                <a:solidFill>
                  <a:srgbClr val="000000"/>
                </a:solidFill>
                <a:latin typeface="Times New Roman" panose="02020603050405020304" pitchFamily="18" charset="0"/>
              </a:rPr>
              <a:t> </a:t>
            </a:r>
            <a:r>
              <a:rPr lang="fr-FR" sz="1200" dirty="0" smtClean="0">
                <a:solidFill>
                  <a:srgbClr val="000000"/>
                </a:solidFill>
                <a:latin typeface="Times New Roman" panose="02020603050405020304" pitchFamily="18" charset="0"/>
              </a:rPr>
              <a:t>Bank International C</a:t>
            </a:r>
            <a:r>
              <a:rPr lang="fr-FR" sz="1200" b="0" i="0" u="none" strike="noStrike" baseline="0" dirty="0" smtClean="0">
                <a:solidFill>
                  <a:srgbClr val="000000"/>
                </a:solidFill>
                <a:latin typeface="Times New Roman" panose="02020603050405020304" pitchFamily="18" charset="0"/>
              </a:rPr>
              <a:t>BI,</a:t>
            </a:r>
          </a:p>
          <a:p>
            <a:pPr>
              <a:lnSpc>
                <a:spcPct val="150000"/>
              </a:lnSpc>
            </a:pPr>
            <a:r>
              <a:rPr lang="fr-FR" sz="1200" b="0" i="0" u="none" strike="noStrike" baseline="0" dirty="0" smtClean="0">
                <a:solidFill>
                  <a:srgbClr val="000000"/>
                </a:solidFill>
                <a:latin typeface="Times New Roman" panose="02020603050405020304" pitchFamily="18" charset="0"/>
              </a:rPr>
              <a:t> Email: </a:t>
            </a:r>
            <a:r>
              <a:rPr lang="fr-FR" sz="1050" b="0" i="0" u="none" strike="noStrike" baseline="0" dirty="0" smtClean="0">
                <a:solidFill>
                  <a:srgbClr val="000000"/>
                </a:solidFill>
                <a:latin typeface="Times New Roman" panose="02020603050405020304" pitchFamily="18" charset="0"/>
                <a:hlinkClick r:id="rId3"/>
              </a:rPr>
              <a:t>aali@coris-bank.com</a:t>
            </a:r>
            <a:endParaRPr lang="fr-FR" sz="1050" b="0" i="0" u="none" strike="noStrike" baseline="0" dirty="0" smtClean="0">
              <a:solidFill>
                <a:srgbClr val="000000"/>
              </a:solidFill>
              <a:latin typeface="Times New Roman" panose="02020603050405020304" pitchFamily="18" charset="0"/>
            </a:endParaRPr>
          </a:p>
          <a:p>
            <a:pPr>
              <a:lnSpc>
                <a:spcPct val="150000"/>
              </a:lnSpc>
            </a:pPr>
            <a:r>
              <a:rPr lang="fr-FR" sz="1200" b="0" i="0" u="none" strike="noStrike" baseline="0" dirty="0" smtClean="0">
                <a:solidFill>
                  <a:srgbClr val="000000"/>
                </a:solidFill>
                <a:latin typeface="Times New Roman" panose="02020603050405020304" pitchFamily="18" charset="0"/>
              </a:rPr>
              <a:t>Contact: +235 66 29 61 41 </a:t>
            </a:r>
          </a:p>
          <a:p>
            <a:pPr>
              <a:lnSpc>
                <a:spcPct val="150000"/>
              </a:lnSpc>
            </a:pPr>
            <a:r>
              <a:rPr lang="fr-FR" sz="1200" b="1" kern="100" dirty="0" smtClean="0">
                <a:solidFill>
                  <a:srgbClr val="000000"/>
                </a:solidFill>
                <a:latin typeface="Calibri" panose="020F0502020204030204" pitchFamily="34" charset="0"/>
                <a:ea typeface="Times New Roman" panose="02020603050405020304" pitchFamily="18" charset="0"/>
                <a:cs typeface="+mn-cs"/>
              </a:rPr>
              <a:t>2. SOLYENAN NGARMOUNGTA Jacques</a:t>
            </a:r>
            <a:r>
              <a:rPr lang="fr-FR" sz="1200" kern="100" dirty="0" smtClean="0">
                <a:solidFill>
                  <a:srgbClr val="000000"/>
                </a:solidFill>
                <a:latin typeface="Calibri" panose="020F0502020204030204" pitchFamily="34" charset="0"/>
                <a:ea typeface="Times New Roman" panose="02020603050405020304" pitchFamily="18" charset="0"/>
                <a:cs typeface="+mn-cs"/>
              </a:rPr>
              <a:t>: Directeur Général de l’Atelier de Construction </a:t>
            </a:r>
            <a:r>
              <a:rPr lang="fr-FR" sz="1200" kern="100" dirty="0" err="1" smtClean="0">
                <a:solidFill>
                  <a:srgbClr val="000000"/>
                </a:solidFill>
                <a:latin typeface="Calibri" panose="020F0502020204030204" pitchFamily="34" charset="0"/>
                <a:ea typeface="Times New Roman" panose="02020603050405020304" pitchFamily="18" charset="0"/>
                <a:cs typeface="+mn-cs"/>
              </a:rPr>
              <a:t>Metallique</a:t>
            </a:r>
            <a:r>
              <a:rPr lang="fr-FR" sz="1200" kern="100" dirty="0">
                <a:solidFill>
                  <a:srgbClr val="000000"/>
                </a:solidFill>
                <a:latin typeface="Calibri" panose="020F0502020204030204" pitchFamily="34" charset="0"/>
                <a:ea typeface="Times New Roman" panose="02020603050405020304" pitchFamily="18" charset="0"/>
                <a:cs typeface="+mn-cs"/>
              </a:rPr>
              <a:t> </a:t>
            </a:r>
            <a:r>
              <a:rPr lang="fr-FR" sz="1200" kern="100" dirty="0" smtClean="0">
                <a:solidFill>
                  <a:srgbClr val="000000"/>
                </a:solidFill>
                <a:latin typeface="Calibri" panose="020F0502020204030204" pitchFamily="34" charset="0"/>
                <a:ea typeface="Times New Roman" panose="02020603050405020304" pitchFamily="18" charset="0"/>
                <a:cs typeface="+mn-cs"/>
              </a:rPr>
              <a:t>le BON CHAMP, tel: 60 10 06 66</a:t>
            </a:r>
            <a:r>
              <a:rPr lang="fr-FR" sz="1200" kern="100" dirty="0" smtClean="0">
                <a:solidFill>
                  <a:srgbClr val="000000"/>
                </a:solidFill>
                <a:latin typeface="Calibri" panose="020F0502020204030204" pitchFamily="34" charset="0"/>
                <a:ea typeface="Times New Roman" panose="02020603050405020304" pitchFamily="18" charset="0"/>
                <a:cs typeface="+mn-cs"/>
              </a:rPr>
              <a:t>,</a:t>
            </a:r>
          </a:p>
          <a:p>
            <a:pPr>
              <a:lnSpc>
                <a:spcPct val="150000"/>
              </a:lnSpc>
            </a:pPr>
            <a:r>
              <a:rPr lang="fr-FR" sz="1200" kern="100" dirty="0" smtClean="0">
                <a:solidFill>
                  <a:srgbClr val="000000"/>
                </a:solidFill>
                <a:latin typeface="Calibri" panose="020F0502020204030204" pitchFamily="34" charset="0"/>
                <a:ea typeface="Times New Roman" panose="02020603050405020304" pitchFamily="18" charset="0"/>
                <a:cs typeface="+mn-cs"/>
              </a:rPr>
              <a:t> </a:t>
            </a:r>
            <a:r>
              <a:rPr lang="fr-FR" sz="1200" kern="100" dirty="0" smtClean="0">
                <a:solidFill>
                  <a:srgbClr val="000000"/>
                </a:solidFill>
                <a:latin typeface="Calibri" panose="020F0502020204030204" pitchFamily="34" charset="0"/>
                <a:ea typeface="Times New Roman" panose="02020603050405020304" pitchFamily="18" charset="0"/>
                <a:cs typeface="+mn-cs"/>
              </a:rPr>
              <a:t>Email:  </a:t>
            </a:r>
            <a:r>
              <a:rPr lang="fr-FR" sz="1200" kern="100" dirty="0" smtClean="0">
                <a:solidFill>
                  <a:srgbClr val="000000"/>
                </a:solidFill>
                <a:latin typeface="Calibri" panose="020F0502020204030204" pitchFamily="34" charset="0"/>
                <a:ea typeface="Times New Roman" panose="02020603050405020304" pitchFamily="18" charset="0"/>
                <a:cs typeface="+mn-cs"/>
                <a:hlinkClick r:id="rId4"/>
              </a:rPr>
              <a:t>lebon.Champ</a:t>
            </a:r>
            <a:r>
              <a:rPr lang="fr-FR" sz="1200" b="0" i="0" u="none" strike="noStrike" baseline="0" dirty="0" smtClean="0">
                <a:solidFill>
                  <a:srgbClr val="000000"/>
                </a:solidFill>
                <a:latin typeface="Times New Roman" panose="02020603050405020304" pitchFamily="18" charset="0"/>
                <a:hlinkClick r:id="rId4"/>
              </a:rPr>
              <a:t>@gmail</a:t>
            </a:r>
            <a:r>
              <a:rPr lang="fr-FR" sz="1200" dirty="0" smtClean="0">
                <a:solidFill>
                  <a:srgbClr val="000000"/>
                </a:solidFill>
                <a:latin typeface="Times New Roman" panose="02020603050405020304" pitchFamily="18" charset="0"/>
                <a:hlinkClick r:id="rId4"/>
              </a:rPr>
              <a:t>.com</a:t>
            </a:r>
            <a:endParaRPr lang="fr-FR" sz="1200" dirty="0" smtClean="0">
              <a:solidFill>
                <a:srgbClr val="000000"/>
              </a:solidFill>
              <a:latin typeface="Times New Roman" panose="02020603050405020304" pitchFamily="18" charset="0"/>
            </a:endParaRPr>
          </a:p>
          <a:p>
            <a:pPr>
              <a:lnSpc>
                <a:spcPct val="150000"/>
              </a:lnSpc>
            </a:pPr>
            <a:r>
              <a:rPr lang="fr-FR" sz="1200" dirty="0" smtClean="0">
                <a:solidFill>
                  <a:srgbClr val="000000"/>
                </a:solidFill>
                <a:latin typeface="Times New Roman" panose="02020603050405020304" pitchFamily="18" charset="0"/>
              </a:rPr>
              <a:t>3. </a:t>
            </a:r>
            <a:r>
              <a:rPr lang="fr-FR" sz="1200" b="1" i="0" u="none" strike="noStrike" baseline="0" dirty="0" smtClean="0">
                <a:solidFill>
                  <a:srgbClr val="000000"/>
                </a:solidFill>
                <a:latin typeface="Times New Roman" panose="02020603050405020304" pitchFamily="18" charset="0"/>
              </a:rPr>
              <a:t>GAD MORDNAGUE DENIS : </a:t>
            </a:r>
            <a:r>
              <a:rPr lang="fr-FR" sz="1200" dirty="0" smtClean="0">
                <a:solidFill>
                  <a:srgbClr val="000000"/>
                </a:solidFill>
                <a:latin typeface="Times New Roman" panose="02020603050405020304" pitchFamily="18" charset="0"/>
              </a:rPr>
              <a:t>Responsable d’Agence Mélina Business Center MBC</a:t>
            </a:r>
            <a:r>
              <a:rPr lang="fr-FR" sz="1200" b="1" i="0" u="none" strike="noStrike" baseline="0" dirty="0" smtClean="0">
                <a:solidFill>
                  <a:srgbClr val="000000"/>
                </a:solidFill>
                <a:latin typeface="Times New Roman" panose="02020603050405020304" pitchFamily="18" charset="0"/>
              </a:rPr>
              <a:t>, </a:t>
            </a:r>
          </a:p>
          <a:p>
            <a:pPr>
              <a:lnSpc>
                <a:spcPct val="150000"/>
              </a:lnSpc>
            </a:pPr>
            <a:r>
              <a:rPr lang="fr-FR" sz="1200" i="0" u="none" strike="noStrike" baseline="0" dirty="0" smtClean="0">
                <a:solidFill>
                  <a:srgbClr val="000000"/>
                </a:solidFill>
                <a:latin typeface="Times New Roman" panose="02020603050405020304" pitchFamily="18" charset="0"/>
              </a:rPr>
              <a:t>Email:</a:t>
            </a:r>
            <a:r>
              <a:rPr lang="fr-FR" sz="1200" i="0" u="none" strike="noStrike" dirty="0" smtClean="0">
                <a:solidFill>
                  <a:srgbClr val="000000"/>
                </a:solidFill>
                <a:latin typeface="Times New Roman" panose="02020603050405020304" pitchFamily="18" charset="0"/>
              </a:rPr>
              <a:t> </a:t>
            </a:r>
            <a:r>
              <a:rPr lang="fr-FR" sz="1050" b="0" i="0" u="none" strike="noStrike" baseline="0" dirty="0" smtClean="0">
                <a:solidFill>
                  <a:srgbClr val="000000"/>
                </a:solidFill>
                <a:latin typeface="Times New Roman" panose="02020603050405020304" pitchFamily="18" charset="0"/>
                <a:hlinkClick r:id="rId5"/>
              </a:rPr>
              <a:t>gadmordjangued@gmail.com</a:t>
            </a:r>
            <a:endParaRPr lang="fr-FR" sz="1050" b="0" i="0" u="none" strike="noStrike" baseline="0" dirty="0" smtClean="0">
              <a:solidFill>
                <a:srgbClr val="000000"/>
              </a:solidFill>
              <a:latin typeface="Times New Roman" panose="02020603050405020304" pitchFamily="18" charset="0"/>
            </a:endParaRPr>
          </a:p>
          <a:p>
            <a:pPr>
              <a:lnSpc>
                <a:spcPct val="150000"/>
              </a:lnSpc>
            </a:pPr>
            <a:r>
              <a:rPr lang="fr-FR" sz="1200" b="0" i="0" u="none" strike="noStrike" baseline="0" dirty="0" smtClean="0">
                <a:solidFill>
                  <a:srgbClr val="000000"/>
                </a:solidFill>
                <a:latin typeface="Times New Roman" panose="02020603050405020304" pitchFamily="18" charset="0"/>
              </a:rPr>
              <a:t>Contact : +235 66 59 99 89 </a:t>
            </a:r>
            <a:endParaRPr lang="fr-FR" sz="1200" dirty="0" smtClean="0">
              <a:solidFill>
                <a:srgbClr val="000000"/>
              </a:solidFill>
              <a:latin typeface="Times New Roman" panose="02020603050405020304" pitchFamily="18" charset="0"/>
            </a:endParaRPr>
          </a:p>
        </p:txBody>
      </p:sp>
      <p:grpSp>
        <p:nvGrpSpPr>
          <p:cNvPr id="16" name="object 19"/>
          <p:cNvGrpSpPr/>
          <p:nvPr/>
        </p:nvGrpSpPr>
        <p:grpSpPr>
          <a:xfrm>
            <a:off x="3414236" y="7156720"/>
            <a:ext cx="66388" cy="555355"/>
            <a:chOff x="3376121" y="4543035"/>
            <a:chExt cx="76835" cy="1336675"/>
          </a:xfrm>
        </p:grpSpPr>
        <p:sp>
          <p:nvSpPr>
            <p:cNvPr id="1048619" name="object 20"/>
            <p:cNvSpPr/>
            <p:nvPr/>
          </p:nvSpPr>
          <p:spPr>
            <a:xfrm>
              <a:off x="3414236" y="4614499"/>
              <a:ext cx="0" cy="1265555"/>
            </a:xfrm>
            <a:custGeom>
              <a:avLst/>
              <a:gdLst/>
              <a:ahLst/>
              <a:cxnLst/>
              <a:rect l="l" t="t" r="r" b="b"/>
              <a:pathLst>
                <a:path h="1265554">
                  <a:moveTo>
                    <a:pt x="0" y="1265092"/>
                  </a:moveTo>
                  <a:lnTo>
                    <a:pt x="0" y="0"/>
                  </a:lnTo>
                </a:path>
              </a:pathLst>
            </a:custGeom>
            <a:ln w="19057">
              <a:solidFill>
                <a:srgbClr val="250DAB"/>
              </a:solidFill>
            </a:ln>
          </p:spPr>
          <p:txBody>
            <a:bodyPr wrap="square" lIns="0" tIns="0" rIns="0" bIns="0" rtlCol="0"/>
            <a:lstStyle/>
            <a:p>
              <a:endParaRPr/>
            </a:p>
          </p:txBody>
        </p:sp>
        <p:pic>
          <p:nvPicPr>
            <p:cNvPr id="2097164" name="object 21"/>
            <p:cNvPicPr>
              <a:picLocks/>
            </p:cNvPicPr>
            <p:nvPr/>
          </p:nvPicPr>
          <p:blipFill>
            <a:blip r:embed="rId2" cstate="print"/>
            <a:stretch>
              <a:fillRect/>
            </a:stretch>
          </p:blipFill>
          <p:spPr>
            <a:xfrm>
              <a:off x="3376121" y="4543035"/>
              <a:ext cx="76228" cy="76228"/>
            </a:xfrm>
            <a:prstGeom prst="rect">
              <a:avLst/>
            </a:prstGeom>
          </p:spPr>
        </p:pic>
      </p:grpSp>
      <p:grpSp>
        <p:nvGrpSpPr>
          <p:cNvPr id="19" name="object 19"/>
          <p:cNvGrpSpPr/>
          <p:nvPr/>
        </p:nvGrpSpPr>
        <p:grpSpPr>
          <a:xfrm>
            <a:off x="3528521" y="4695435"/>
            <a:ext cx="76835" cy="1336675"/>
            <a:chOff x="3376121" y="4543035"/>
            <a:chExt cx="76835" cy="1336675"/>
          </a:xfrm>
        </p:grpSpPr>
        <p:sp>
          <p:nvSpPr>
            <p:cNvPr id="20" name="object 20"/>
            <p:cNvSpPr/>
            <p:nvPr/>
          </p:nvSpPr>
          <p:spPr>
            <a:xfrm>
              <a:off x="3414236" y="4614499"/>
              <a:ext cx="0" cy="1265555"/>
            </a:xfrm>
            <a:custGeom>
              <a:avLst/>
              <a:gdLst/>
              <a:ahLst/>
              <a:cxnLst/>
              <a:rect l="l" t="t" r="r" b="b"/>
              <a:pathLst>
                <a:path h="1265554">
                  <a:moveTo>
                    <a:pt x="0" y="1265092"/>
                  </a:moveTo>
                  <a:lnTo>
                    <a:pt x="0" y="0"/>
                  </a:lnTo>
                </a:path>
              </a:pathLst>
            </a:custGeom>
            <a:ln w="19057">
              <a:solidFill>
                <a:srgbClr val="250DAB"/>
              </a:solidFill>
            </a:ln>
          </p:spPr>
          <p:txBody>
            <a:bodyPr wrap="square" lIns="0" tIns="0" rIns="0" bIns="0" rtlCol="0"/>
            <a:lstStyle/>
            <a:p>
              <a:endParaRPr/>
            </a:p>
          </p:txBody>
        </p:sp>
        <p:pic>
          <p:nvPicPr>
            <p:cNvPr id="21" name="object 21"/>
            <p:cNvPicPr>
              <a:picLocks/>
            </p:cNvPicPr>
            <p:nvPr/>
          </p:nvPicPr>
          <p:blipFill>
            <a:blip r:embed="rId2" cstate="print"/>
            <a:stretch>
              <a:fillRect/>
            </a:stretch>
          </p:blipFill>
          <p:spPr>
            <a:xfrm>
              <a:off x="3376121" y="4543035"/>
              <a:ext cx="76228" cy="76228"/>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7113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466</Words>
  <Application>Microsoft Office PowerPoint</Application>
  <PresentationFormat>Personnalisé</PresentationFormat>
  <Paragraphs>89</Paragraphs>
  <Slides>2</Slides>
  <Notes>1</Notes>
  <HiddenSlides>0</HiddenSlides>
  <MMClips>0</MMClips>
  <ScaleCrop>false</ScaleCrop>
  <HeadingPairs>
    <vt:vector size="4" baseType="variant">
      <vt:variant>
        <vt:lpstr>Thème</vt:lpstr>
      </vt:variant>
      <vt:variant>
        <vt:i4>1</vt:i4>
      </vt:variant>
      <vt:variant>
        <vt:lpstr>Titres des diapositives</vt:lpstr>
      </vt:variant>
      <vt:variant>
        <vt:i4>2</vt:i4>
      </vt:variant>
    </vt:vector>
  </HeadingPairs>
  <TitlesOfParts>
    <vt:vector size="3" baseType="lpstr">
      <vt:lpstr>Office Theme</vt:lpstr>
      <vt:lpstr>DJIMRANGUE DODJISSENGAR Francis</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DJIMRANGUE DODJISSENGAR FRANCIS</dc:title>
  <dc:creator>SM-M127F</dc:creator>
  <cp:lastModifiedBy>MELCHITEC</cp:lastModifiedBy>
  <cp:revision>8</cp:revision>
  <dcterms:created xsi:type="dcterms:W3CDTF">2026-02-14T14:49:49Z</dcterms:created>
  <dcterms:modified xsi:type="dcterms:W3CDTF">2026-03-31T12:45:53Z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2026-02-14T00:00:00Z</vt:filetime>
  </property>
  <property fmtid="{D5CDD505-2E9C-101B-9397-08002B2CF9AE}" pid="3" name="LastSaved">
    <vt:filetime>2026-02-14T00:00:00Z</vt:filetime>
  </property>
  <property fmtid="{D5CDD505-2E9C-101B-9397-08002B2CF9AE}" pid="4" name="Producer">
    <vt:lpwstr>3-Heights(TM) PDF Security Shell 4.8.25.2 (http://www.pdf-tools.com)</vt:lpwstr>
  </property>
  <property fmtid="{D5CDD505-2E9C-101B-9397-08002B2CF9AE}" pid="5" name="ICV">
    <vt:lpwstr>fd679c112c0d4843aa568e3195275a43</vt:lpwstr>
  </property>
</Properties>
</file>